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59" r:id="rId1"/>
  </p:sldMasterIdLst>
  <p:sldIdLst>
    <p:sldId id="256" r:id="rId2"/>
    <p:sldId id="258" r:id="rId3"/>
    <p:sldId id="257" r:id="rId4"/>
    <p:sldId id="259" r:id="rId5"/>
    <p:sldId id="260" r:id="rId6"/>
    <p:sldId id="262" r:id="rId7"/>
    <p:sldId id="263" r:id="rId8"/>
    <p:sldId id="269" r:id="rId9"/>
    <p:sldId id="265" r:id="rId10"/>
    <p:sldId id="266" r:id="rId11"/>
    <p:sldId id="267" r:id="rId12"/>
    <p:sldId id="268" r:id="rId13"/>
    <p:sldId id="264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70F32D2A-816E-4F82-AAE0-6C4F2BF64C17}">
          <p14:sldIdLst>
            <p14:sldId id="256"/>
            <p14:sldId id="258"/>
          </p14:sldIdLst>
        </p14:section>
        <p14:section name="Data Visualisation" id="{3CAC1DFB-410E-40E2-9D93-441ADAA93D57}">
          <p14:sldIdLst>
            <p14:sldId id="257"/>
            <p14:sldId id="259"/>
            <p14:sldId id="260"/>
            <p14:sldId id="262"/>
            <p14:sldId id="263"/>
          </p14:sldIdLst>
        </p14:section>
        <p14:section name="Machine Learning" id="{CF627FA5-CCE1-4DEF-BB1C-E931CD8426A5}">
          <p14:sldIdLst>
            <p14:sldId id="269"/>
            <p14:sldId id="265"/>
            <p14:sldId id="266"/>
            <p14:sldId id="267"/>
            <p14:sldId id="268"/>
          </p14:sldIdLst>
        </p14:section>
        <p14:section name="Conclusion" id="{D231E5E2-800B-4B57-88F2-81438C4C3471}">
          <p14:sldIdLst>
            <p14:sldId id="26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60"/>
  </p:normalViewPr>
  <p:slideViewPr>
    <p:cSldViewPr snapToGrid="0">
      <p:cViewPr>
        <p:scale>
          <a:sx n="92" d="100"/>
          <a:sy n="92" d="100"/>
        </p:scale>
        <p:origin x="51" y="-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4939257"/>
            <a:ext cx="5898630" cy="480373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Picture Placeholder 10">
            <a:extLst>
              <a:ext uri="{FF2B5EF4-FFF2-40B4-BE49-F238E27FC236}">
                <a16:creationId xmlns:a16="http://schemas.microsoft.com/office/drawing/2014/main" id="{C58F7861-05FC-CC70-0C94-F3BAE39E54E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-1"/>
            <a:ext cx="12192000" cy="4784036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EC7B0B-C375-9D64-1424-3B07B71AF1F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205927" y="4939715"/>
            <a:ext cx="4420031" cy="479458"/>
          </a:xfrm>
        </p:spPr>
        <p:txBody>
          <a:bodyPr anchor="t"/>
          <a:lstStyle>
            <a:lvl1pPr>
              <a:defRPr sz="1400"/>
            </a:lvl1pPr>
          </a:lstStyle>
          <a:p>
            <a:endParaRPr lang="en-SG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9117021-C08A-0E4F-5F64-FC1A870E481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762792" y="4939257"/>
            <a:ext cx="429207" cy="365125"/>
          </a:xfrm>
        </p:spPr>
        <p:txBody>
          <a:bodyPr/>
          <a:lstStyle/>
          <a:p>
            <a:fld id="{4AA90A56-0174-4A40-94A8-568A19157048}" type="slidenum">
              <a:rPr lang="en-SG" smtClean="0"/>
              <a:t>‹#›</a:t>
            </a:fld>
            <a:endParaRPr lang="en-SG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9001D668-DD9C-F5B4-B191-51BDD0B3082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103035" y="5873424"/>
            <a:ext cx="1005840" cy="10058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009A08CF-24F0-EC7D-277D-CB831E7E79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9847" y="5718869"/>
            <a:ext cx="5916168" cy="1143000"/>
          </a:xfrm>
        </p:spPr>
        <p:txBody>
          <a:bodyPr anchor="b">
            <a:normAutofit/>
          </a:bodyPr>
          <a:lstStyle>
            <a:lvl1pPr>
              <a:lnSpc>
                <a:spcPct val="60000"/>
              </a:lnSpc>
              <a:defRPr sz="5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02062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B406F310-2B8D-3C32-560C-686817E6B4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6249" y="1012175"/>
            <a:ext cx="11113008" cy="84979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64FD1A6D-2D8E-1FD1-C1AC-CB5E9D5A15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42375" y="110364"/>
            <a:ext cx="5276852" cy="365125"/>
          </a:xfrm>
        </p:spPr>
        <p:txBody>
          <a:bodyPr/>
          <a:lstStyle/>
          <a:p>
            <a:endParaRPr lang="en-SG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FADE430-EE65-B675-F031-7651DE9D69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005DED-B82A-4AEF-8919-1A2CE31EBA33}" type="datetimeFigureOut">
              <a:rPr lang="en-SG" smtClean="0"/>
              <a:t>8/9/2026</a:t>
            </a:fld>
            <a:endParaRPr lang="en-S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7305BC9-1670-00D4-5A66-F52444DA9C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3959" y="104649"/>
            <a:ext cx="429207" cy="365125"/>
          </a:xfrm>
        </p:spPr>
        <p:txBody>
          <a:bodyPr/>
          <a:lstStyle/>
          <a:p>
            <a:fld id="{4AA90A56-0174-4A40-94A8-568A19157048}" type="slidenum">
              <a:rPr lang="en-SG" smtClean="0"/>
              <a:t>‹#›</a:t>
            </a:fld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496" y="2115542"/>
            <a:ext cx="11013670" cy="44515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75354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5457214"/>
            <a:ext cx="4206240" cy="1380744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096000" y="0"/>
            <a:ext cx="6096000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9134185-2980-312E-60AF-F360D16FB9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8288" y="81290"/>
            <a:ext cx="4654296" cy="373989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09415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" y="6174463"/>
            <a:ext cx="5891134" cy="654839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D29E0058-93A2-5291-6ACA-A0430862664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03035" y="5873424"/>
            <a:ext cx="1005840" cy="1005840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3F14EE-EFB3-D2DC-CEAA-621D666271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33E0DC-DE5C-286F-36BD-6985F4A6C3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005DED-B82A-4AEF-8919-1A2CE31EBA33}" type="datetimeFigureOut">
              <a:rPr lang="en-SG" smtClean="0"/>
              <a:t>8/9/2026</a:t>
            </a:fld>
            <a:endParaRPr lang="en-SG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207AF81-9CDB-689F-CE00-62257104EC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90A56-0174-4A40-94A8-568A19157048}" type="slidenum">
              <a:rPr lang="en-SG" smtClean="0"/>
              <a:t>‹#›</a:t>
            </a:fld>
            <a:endParaRPr lang="en-SG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570B1373-40A5-190F-BE9F-8FC310F7B0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8288" y="2159632"/>
            <a:ext cx="9683496" cy="3776472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2452695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54E7A70C-B49B-5779-BA11-88AE4939E04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377355" y="83125"/>
            <a:ext cx="731520" cy="731520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68197F50-0DC4-261A-813C-264E7361D7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8288" y="2184032"/>
            <a:ext cx="8074152" cy="4718304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530689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8288" y="82296"/>
            <a:ext cx="8139659" cy="1554480"/>
          </a:xfrm>
        </p:spPr>
        <p:txBody>
          <a:bodyPr anchor="t">
            <a:norm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-1" y="1896472"/>
            <a:ext cx="8139660" cy="3557904"/>
          </a:xfrm>
        </p:spPr>
        <p:txBody>
          <a:bodyPr>
            <a:normAutofit/>
          </a:bodyPr>
          <a:lstStyle>
            <a:lvl1pPr marL="342900" indent="-342900">
              <a:buFont typeface="+mj-lt"/>
              <a:buAutoNum type="arabicPeriod"/>
              <a:defRPr sz="1400"/>
            </a:lvl1pPr>
            <a:lvl2pPr marL="571500" indent="-342900">
              <a:buFont typeface="+mj-lt"/>
              <a:buAutoNum type="arabicPeriod"/>
              <a:defRPr sz="1400"/>
            </a:lvl2pPr>
            <a:lvl3pPr marL="800100" indent="-342900">
              <a:buFont typeface="+mj-lt"/>
              <a:buAutoNum type="arabicPeriod"/>
              <a:defRPr sz="1400"/>
            </a:lvl3pPr>
            <a:lvl4pPr marL="1028700" indent="-342900">
              <a:buFont typeface="+mj-lt"/>
              <a:buAutoNum type="arabicPeriod"/>
              <a:defRPr sz="1400"/>
            </a:lvl4pPr>
            <a:lvl5pPr marL="1257300" indent="-342900">
              <a:buFont typeface="+mj-lt"/>
              <a:buAutoNum type="arabicPeriod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175C8E38-E957-9E3C-9A05-717C0F009AB9}"/>
              </a:ext>
            </a:extLst>
          </p:cNvPr>
          <p:cNvSpPr/>
          <p:nvPr/>
        </p:nvSpPr>
        <p:spPr>
          <a:xfrm>
            <a:off x="8552512" y="3218512"/>
            <a:ext cx="3557904" cy="3557904"/>
          </a:xfrm>
          <a:prstGeom prst="ellipse">
            <a:avLst/>
          </a:prstGeom>
          <a:noFill/>
          <a:ln w="158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1E193C2-09EC-BB41-5A34-007D34EB8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62793" y="100701"/>
            <a:ext cx="429207" cy="365125"/>
          </a:xfrm>
        </p:spPr>
        <p:txBody>
          <a:bodyPr/>
          <a:lstStyle/>
          <a:p>
            <a:fld id="{4AA90A56-0174-4A40-94A8-568A19157048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4159334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66396" y="621792"/>
            <a:ext cx="5386715" cy="1816898"/>
          </a:xfrm>
        </p:spPr>
        <p:txBody>
          <a:bodyPr anchor="t">
            <a:no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9AC20259-235D-F9C3-3788-C1457976F5A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5906642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90488" y="110364"/>
            <a:ext cx="5349239" cy="365125"/>
          </a:xfrm>
        </p:spPr>
        <p:txBody>
          <a:bodyPr/>
          <a:lstStyle/>
          <a:p>
            <a:endParaRPr lang="en-S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62793" y="110364"/>
            <a:ext cx="429207" cy="365125"/>
          </a:xfrm>
        </p:spPr>
        <p:txBody>
          <a:bodyPr/>
          <a:lstStyle/>
          <a:p>
            <a:fld id="{4AA90A56-0174-4A40-94A8-568A19157048}" type="slidenum">
              <a:rPr lang="en-SG" smtClean="0"/>
              <a:t>‹#›</a:t>
            </a:fld>
            <a:endParaRPr lang="en-SG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90488" y="2740228"/>
            <a:ext cx="5906642" cy="4096512"/>
          </a:xfrm>
        </p:spPr>
        <p:txBody>
          <a:bodyPr anchor="b">
            <a:normAutofit/>
          </a:bodyPr>
          <a:lstStyle>
            <a:lvl1pPr marL="342900" indent="-342900">
              <a:buFont typeface="+mj-lt"/>
              <a:buAutoNum type="arabicPeriod"/>
              <a:defRPr sz="1400"/>
            </a:lvl1pPr>
            <a:lvl2pPr marL="571500" indent="-342900">
              <a:buFont typeface="+mj-lt"/>
              <a:buAutoNum type="arabicPeriod"/>
              <a:defRPr sz="1400"/>
            </a:lvl2pPr>
            <a:lvl3pPr marL="800100" indent="-342900">
              <a:buFont typeface="+mj-lt"/>
              <a:buAutoNum type="arabicPeriod"/>
              <a:defRPr sz="1400"/>
            </a:lvl3pPr>
            <a:lvl4pPr marL="1028700" indent="-342900">
              <a:buFont typeface="+mj-lt"/>
              <a:buAutoNum type="arabicPeriod"/>
              <a:defRPr sz="1400"/>
            </a:lvl4pPr>
            <a:lvl5pPr marL="1257300" indent="-342900">
              <a:buFont typeface="+mj-lt"/>
              <a:buAutoNum type="arabicPeriod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17350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0178B15-836F-D50E-D616-40C9373248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645" y="987552"/>
            <a:ext cx="5366480" cy="4044508"/>
          </a:xfrm>
        </p:spPr>
        <p:txBody>
          <a:bodyPr>
            <a:norm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83A196D4-110B-6911-7AF5-9149D3FFF8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2150" y="100701"/>
            <a:ext cx="5366480" cy="365125"/>
          </a:xfrm>
        </p:spPr>
        <p:txBody>
          <a:bodyPr/>
          <a:lstStyle/>
          <a:p>
            <a:endParaRPr lang="en-SG"/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A8D9253F-93F3-9EB9-BFA6-49C9461DE0D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190488" y="100701"/>
            <a:ext cx="2940449" cy="365125"/>
          </a:xfrm>
        </p:spPr>
        <p:txBody>
          <a:bodyPr/>
          <a:lstStyle/>
          <a:p>
            <a:fld id="{FF005DED-B82A-4AEF-8919-1A2CE31EBA33}" type="datetimeFigureOut">
              <a:rPr lang="en-SG" smtClean="0"/>
              <a:t>8/9/2026</a:t>
            </a:fld>
            <a:endParaRPr lang="en-SG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B94C6C96-D651-5D6B-830B-07E5A3542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05731" y="100701"/>
            <a:ext cx="429207" cy="365125"/>
          </a:xfrm>
        </p:spPr>
        <p:txBody>
          <a:bodyPr/>
          <a:lstStyle/>
          <a:p>
            <a:fld id="{4AA90A56-0174-4A40-94A8-568A19157048}" type="slidenum">
              <a:rPr lang="en-SG" smtClean="0"/>
              <a:t>‹#›</a:t>
            </a:fld>
            <a:endParaRPr lang="en-SG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90488" y="969264"/>
            <a:ext cx="5336753" cy="48180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02006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496" y="988979"/>
            <a:ext cx="3462878" cy="2942419"/>
          </a:xfrm>
        </p:spPr>
        <p:txBody>
          <a:bodyPr>
            <a:norm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A9910B-18FC-4A92-025A-A88AC7CD6B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2150" y="100701"/>
            <a:ext cx="3470224" cy="365125"/>
          </a:xfrm>
        </p:spPr>
        <p:txBody>
          <a:bodyPr/>
          <a:lstStyle/>
          <a:p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752728-D41A-655E-871F-F76147E0E9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17167" y="100701"/>
            <a:ext cx="2940449" cy="365125"/>
          </a:xfrm>
        </p:spPr>
        <p:txBody>
          <a:bodyPr/>
          <a:lstStyle/>
          <a:p>
            <a:fld id="{FF005DED-B82A-4AEF-8919-1A2CE31EBA33}" type="datetimeFigureOut">
              <a:rPr lang="en-SG" smtClean="0"/>
              <a:t>8/9/2026</a:t>
            </a:fld>
            <a:endParaRPr lang="en-SG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E07CC96-728B-298D-B2D6-54C4E9F0E9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05731" y="100701"/>
            <a:ext cx="429207" cy="365125"/>
          </a:xfrm>
        </p:spPr>
        <p:txBody>
          <a:bodyPr/>
          <a:lstStyle/>
          <a:p>
            <a:fld id="{4AA90A56-0174-4A40-94A8-568A19157048}" type="slidenum">
              <a:rPr lang="en-SG" smtClean="0"/>
              <a:t>‹#›</a:t>
            </a:fld>
            <a:endParaRPr lang="en-SG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317167" y="967689"/>
            <a:ext cx="7217771" cy="52371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82689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B7D0064E-1F0E-2DDF-C6B5-9CE196C4B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5804" y="612140"/>
            <a:ext cx="6499655" cy="1519612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4804012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 lang="en-US" dirty="0"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7" name="Content Placeholder 7">
            <a:extLst>
              <a:ext uri="{FF2B5EF4-FFF2-40B4-BE49-F238E27FC236}">
                <a16:creationId xmlns:a16="http://schemas.microsoft.com/office/drawing/2014/main" id="{D478DAE4-13AB-5772-07E6-B3264F1E314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04122" y="2457406"/>
            <a:ext cx="6441338" cy="3778977"/>
          </a:xfrm>
        </p:spPr>
        <p:txBody>
          <a:bodyPr anchor="t"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65BFCB1-FAA8-D03A-3B62-DCB2CF1CA11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104122" y="6452990"/>
            <a:ext cx="1968375" cy="365125"/>
          </a:xfrm>
        </p:spPr>
        <p:txBody>
          <a:bodyPr anchor="b"/>
          <a:lstStyle/>
          <a:p>
            <a:endParaRPr lang="en-SG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A608994-46CD-AAE0-DCC4-A59D26254D8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16252" y="6452989"/>
            <a:ext cx="429207" cy="365125"/>
          </a:xfrm>
        </p:spPr>
        <p:txBody>
          <a:bodyPr anchor="b"/>
          <a:lstStyle/>
          <a:p>
            <a:fld id="{4AA90A56-0174-4A40-94A8-568A19157048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2830321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3CDF6858-35EF-4C90-B3F5-339B7EF1F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81793" y="621792"/>
            <a:ext cx="7252710" cy="1138769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4023360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72FCF01F-6AD4-FD29-865E-65BD55CF89D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309088" y="2115404"/>
            <a:ext cx="7225415" cy="4212926"/>
          </a:xfrm>
        </p:spPr>
        <p:txBody>
          <a:bodyPr anchor="t" anchorCtr="0"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Footer Placeholder 8">
            <a:extLst>
              <a:ext uri="{FF2B5EF4-FFF2-40B4-BE49-F238E27FC236}">
                <a16:creationId xmlns:a16="http://schemas.microsoft.com/office/drawing/2014/main" id="{4F9B8FC8-8820-A655-2A18-E8F8FC2C72D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281793" y="6492875"/>
            <a:ext cx="1968375" cy="365125"/>
          </a:xfrm>
        </p:spPr>
        <p:txBody>
          <a:bodyPr anchor="b"/>
          <a:lstStyle/>
          <a:p>
            <a:endParaRPr lang="en-SG"/>
          </a:p>
        </p:txBody>
      </p:sp>
      <p:sp>
        <p:nvSpPr>
          <p:cNvPr id="13" name="Date Placeholder 2">
            <a:extLst>
              <a:ext uri="{FF2B5EF4-FFF2-40B4-BE49-F238E27FC236}">
                <a16:creationId xmlns:a16="http://schemas.microsoft.com/office/drawing/2014/main" id="{A8C032E2-BBA3-EA74-8FE1-5AFC46A21AE1}"/>
              </a:ext>
            </a:extLst>
          </p:cNvPr>
          <p:cNvSpPr>
            <a:spLocks noGrp="1"/>
          </p:cNvSpPr>
          <p:nvPr>
            <p:ph type="dt" sz="half" idx="18"/>
          </p:nvPr>
        </p:nvSpPr>
        <p:spPr>
          <a:xfrm>
            <a:off x="9023903" y="6492875"/>
            <a:ext cx="1596200" cy="365125"/>
          </a:xfrm>
        </p:spPr>
        <p:txBody>
          <a:bodyPr anchor="b"/>
          <a:lstStyle/>
          <a:p>
            <a:fld id="{FF005DED-B82A-4AEF-8919-1A2CE31EBA33}" type="datetimeFigureOut">
              <a:rPr lang="en-SG" smtClean="0"/>
              <a:t>8/9/2026</a:t>
            </a:fld>
            <a:endParaRPr lang="en-SG"/>
          </a:p>
        </p:txBody>
      </p:sp>
      <p:sp>
        <p:nvSpPr>
          <p:cNvPr id="12" name="Slide Number Placeholder 9">
            <a:extLst>
              <a:ext uri="{FF2B5EF4-FFF2-40B4-BE49-F238E27FC236}">
                <a16:creationId xmlns:a16="http://schemas.microsoft.com/office/drawing/2014/main" id="{D28087CA-07B9-D0D2-3AA7-C34B5C9645B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05296" y="6492875"/>
            <a:ext cx="429207" cy="365125"/>
          </a:xfrm>
        </p:spPr>
        <p:txBody>
          <a:bodyPr anchor="b"/>
          <a:lstStyle/>
          <a:p>
            <a:fld id="{4AA90A56-0174-4A40-94A8-568A19157048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83749558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5">
            <a:extLst>
              <a:ext uri="{FF2B5EF4-FFF2-40B4-BE49-F238E27FC236}">
                <a16:creationId xmlns:a16="http://schemas.microsoft.com/office/drawing/2014/main" id="{7A932ED1-5750-0D24-8D58-961B6F20FA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2307" y="621792"/>
            <a:ext cx="7252710" cy="113876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Content Placeholder 7">
            <a:extLst>
              <a:ext uri="{FF2B5EF4-FFF2-40B4-BE49-F238E27FC236}">
                <a16:creationId xmlns:a16="http://schemas.microsoft.com/office/drawing/2014/main" id="{01598DB3-17DB-7EDD-0F42-9866A753C2DD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569602" y="2115404"/>
            <a:ext cx="7225415" cy="4212926"/>
          </a:xfrm>
        </p:spPr>
        <p:txBody>
          <a:bodyPr anchor="t" anchorCtr="0"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Picture Placeholder 10">
            <a:extLst>
              <a:ext uri="{FF2B5EF4-FFF2-40B4-BE49-F238E27FC236}">
                <a16:creationId xmlns:a16="http://schemas.microsoft.com/office/drawing/2014/main" id="{6C5AB1A9-786B-C92B-C6EA-63CE0AACFB1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168640" y="1"/>
            <a:ext cx="4023360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C6115057-015C-DC83-074A-D22D9E0B6CD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42307" y="6492875"/>
            <a:ext cx="1968375" cy="365125"/>
          </a:xfrm>
        </p:spPr>
        <p:txBody>
          <a:bodyPr/>
          <a:lstStyle/>
          <a:p>
            <a:endParaRPr lang="en-SG"/>
          </a:p>
        </p:txBody>
      </p:sp>
      <p:sp>
        <p:nvSpPr>
          <p:cNvPr id="8" name="Date Placeholder 1">
            <a:extLst>
              <a:ext uri="{FF2B5EF4-FFF2-40B4-BE49-F238E27FC236}">
                <a16:creationId xmlns:a16="http://schemas.microsoft.com/office/drawing/2014/main" id="{42028964-5597-F5F0-6AEA-C79255C9BCE9}"/>
              </a:ext>
            </a:extLst>
          </p:cNvPr>
          <p:cNvSpPr>
            <a:spLocks noGrp="1"/>
          </p:cNvSpPr>
          <p:nvPr>
            <p:ph type="dt" sz="half" idx="18"/>
          </p:nvPr>
        </p:nvSpPr>
        <p:spPr>
          <a:xfrm>
            <a:off x="5284417" y="6492875"/>
            <a:ext cx="1596200" cy="365125"/>
          </a:xfrm>
        </p:spPr>
        <p:txBody>
          <a:bodyPr/>
          <a:lstStyle/>
          <a:p>
            <a:fld id="{FF005DED-B82A-4AEF-8919-1A2CE31EBA33}" type="datetimeFigureOut">
              <a:rPr lang="en-SG" smtClean="0"/>
              <a:t>8/9/2026</a:t>
            </a:fld>
            <a:endParaRPr lang="en-SG"/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B6324527-5F82-8213-FFB9-A5E6BEB2314F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7365810" y="6492875"/>
            <a:ext cx="429207" cy="365125"/>
          </a:xfrm>
        </p:spPr>
        <p:txBody>
          <a:bodyPr/>
          <a:lstStyle/>
          <a:p>
            <a:fld id="{4AA90A56-0174-4A40-94A8-568A19157048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48358623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B15000-16D8-B5F1-E35B-BAE97B4E6E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615" y="621793"/>
            <a:ext cx="5326684" cy="1507454"/>
          </a:xfrm>
        </p:spPr>
        <p:txBody>
          <a:bodyPr anchor="t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7">
            <a:extLst>
              <a:ext uri="{FF2B5EF4-FFF2-40B4-BE49-F238E27FC236}">
                <a16:creationId xmlns:a16="http://schemas.microsoft.com/office/drawing/2014/main" id="{B022A1E6-0A6D-9476-5034-0BDE3EE38B91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518616" y="2513110"/>
            <a:ext cx="5326683" cy="3568006"/>
          </a:xfrm>
        </p:spPr>
        <p:txBody>
          <a:bodyPr anchor="t" anchorCtr="0"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Picture Placeholder 7">
            <a:extLst>
              <a:ext uri="{FF2B5EF4-FFF2-40B4-BE49-F238E27FC236}">
                <a16:creationId xmlns:a16="http://schemas.microsoft.com/office/drawing/2014/main" id="{6B8D4096-4B0D-5226-C004-475A83BE8BFE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6308842" y="0"/>
            <a:ext cx="5883158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917C8CF-AEBF-835D-4503-06A0208049F0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18615" y="6450237"/>
            <a:ext cx="1968375" cy="365125"/>
          </a:xfrm>
        </p:spPr>
        <p:txBody>
          <a:bodyPr anchor="b"/>
          <a:lstStyle/>
          <a:p>
            <a:endParaRPr lang="en-SG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3662962-C2D0-E99D-BD6A-C97F4798F26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5453953" y="6464979"/>
            <a:ext cx="429207" cy="365125"/>
          </a:xfrm>
        </p:spPr>
        <p:txBody>
          <a:bodyPr anchor="b"/>
          <a:lstStyle/>
          <a:p>
            <a:fld id="{4AA90A56-0174-4A40-94A8-568A19157048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14970277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98B87BE0-867D-AF74-02DD-6F5420BC6D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965" y="621792"/>
            <a:ext cx="4446871" cy="1867629"/>
          </a:xfrm>
        </p:spPr>
        <p:txBody>
          <a:bodyPr anchor="t">
            <a:no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Content Placeholder 7">
            <a:extLst>
              <a:ext uri="{FF2B5EF4-FFF2-40B4-BE49-F238E27FC236}">
                <a16:creationId xmlns:a16="http://schemas.microsoft.com/office/drawing/2014/main" id="{7B86FDEC-359F-20D5-12F6-5CBA3DC009E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43940" y="2890729"/>
            <a:ext cx="4449227" cy="3138438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Picture Placeholder 10">
            <a:extLst>
              <a:ext uri="{FF2B5EF4-FFF2-40B4-BE49-F238E27FC236}">
                <a16:creationId xmlns:a16="http://schemas.microsoft.com/office/drawing/2014/main" id="{FBEF9CB2-E8D7-8869-9B11-C58F1606DFE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363570" y="0"/>
            <a:ext cx="6828430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10" name="Footer Placeholder 8">
            <a:extLst>
              <a:ext uri="{FF2B5EF4-FFF2-40B4-BE49-F238E27FC236}">
                <a16:creationId xmlns:a16="http://schemas.microsoft.com/office/drawing/2014/main" id="{4784CE43-81E9-3B12-CB65-9B5FC6ECE9ED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15618" y="6430476"/>
            <a:ext cx="1968375" cy="379867"/>
          </a:xfrm>
        </p:spPr>
        <p:txBody>
          <a:bodyPr anchor="b"/>
          <a:lstStyle/>
          <a:p>
            <a:endParaRPr lang="en-SG"/>
          </a:p>
        </p:txBody>
      </p:sp>
      <p:sp>
        <p:nvSpPr>
          <p:cNvPr id="11" name="Slide Number Placeholder 9">
            <a:extLst>
              <a:ext uri="{FF2B5EF4-FFF2-40B4-BE49-F238E27FC236}">
                <a16:creationId xmlns:a16="http://schemas.microsoft.com/office/drawing/2014/main" id="{779F1775-5104-9F86-4A61-07F914947CC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4563960" y="6430476"/>
            <a:ext cx="429207" cy="379867"/>
          </a:xfrm>
        </p:spPr>
        <p:txBody>
          <a:bodyPr anchor="b"/>
          <a:lstStyle/>
          <a:p>
            <a:fld id="{4AA90A56-0174-4A40-94A8-568A19157048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30829002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49733" y="621792"/>
            <a:ext cx="3884546" cy="2280501"/>
          </a:xfrm>
        </p:spPr>
        <p:txBody>
          <a:bodyPr anchor="t">
            <a:no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10">
            <a:extLst>
              <a:ext uri="{FF2B5EF4-FFF2-40B4-BE49-F238E27FC236}">
                <a16:creationId xmlns:a16="http://schemas.microsoft.com/office/drawing/2014/main" id="{74736F65-8A7D-D535-AAD0-31480F8AD31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7260609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687521" y="3211512"/>
            <a:ext cx="3884547" cy="2743200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8">
            <a:extLst>
              <a:ext uri="{FF2B5EF4-FFF2-40B4-BE49-F238E27FC236}">
                <a16:creationId xmlns:a16="http://schemas.microsoft.com/office/drawing/2014/main" id="{C64245F1-97E2-FD23-26A5-03067F464698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7649733" y="6456384"/>
            <a:ext cx="1968375" cy="379867"/>
          </a:xfrm>
        </p:spPr>
        <p:txBody>
          <a:bodyPr anchor="b"/>
          <a:lstStyle/>
          <a:p>
            <a:endParaRPr lang="en-SG"/>
          </a:p>
        </p:txBody>
      </p:sp>
      <p:sp>
        <p:nvSpPr>
          <p:cNvPr id="5" name="Slide Number Placeholder 9">
            <a:extLst>
              <a:ext uri="{FF2B5EF4-FFF2-40B4-BE49-F238E27FC236}">
                <a16:creationId xmlns:a16="http://schemas.microsoft.com/office/drawing/2014/main" id="{15E75D5B-F407-F4DD-192B-D56CF168CDA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34152" y="6456385"/>
            <a:ext cx="429207" cy="379867"/>
          </a:xfrm>
        </p:spPr>
        <p:txBody>
          <a:bodyPr anchor="b"/>
          <a:lstStyle/>
          <a:p>
            <a:fld id="{4AA90A56-0174-4A40-94A8-568A19157048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10938337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DB686070-85E7-EB57-8965-F95F2692CC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064" y="3608276"/>
            <a:ext cx="4428700" cy="2620587"/>
          </a:xfrm>
        </p:spPr>
        <p:txBody>
          <a:bodyPr anchor="t">
            <a:no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12192000" cy="3429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4546533B-13A8-961D-BD05-8DE715F6340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268036" y="3579702"/>
            <a:ext cx="6298442" cy="2620587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8">
            <a:extLst>
              <a:ext uri="{FF2B5EF4-FFF2-40B4-BE49-F238E27FC236}">
                <a16:creationId xmlns:a16="http://schemas.microsoft.com/office/drawing/2014/main" id="{9349FD65-108E-79AD-A9C8-91429963386F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262666" y="6442872"/>
            <a:ext cx="1968375" cy="379867"/>
          </a:xfrm>
        </p:spPr>
        <p:txBody>
          <a:bodyPr anchor="b"/>
          <a:lstStyle/>
          <a:p>
            <a:endParaRPr lang="en-SG"/>
          </a:p>
        </p:txBody>
      </p:sp>
      <p:sp>
        <p:nvSpPr>
          <p:cNvPr id="12" name="Date Placeholder 2">
            <a:extLst>
              <a:ext uri="{FF2B5EF4-FFF2-40B4-BE49-F238E27FC236}">
                <a16:creationId xmlns:a16="http://schemas.microsoft.com/office/drawing/2014/main" id="{547B7542-C2BA-4322-9FF4-E2713B917492}"/>
              </a:ext>
            </a:extLst>
          </p:cNvPr>
          <p:cNvSpPr>
            <a:spLocks noGrp="1"/>
          </p:cNvSpPr>
          <p:nvPr>
            <p:ph type="dt" sz="half" idx="18"/>
          </p:nvPr>
        </p:nvSpPr>
        <p:spPr>
          <a:xfrm>
            <a:off x="7697040" y="6442872"/>
            <a:ext cx="2295997" cy="379867"/>
          </a:xfrm>
        </p:spPr>
        <p:txBody>
          <a:bodyPr anchor="b"/>
          <a:lstStyle/>
          <a:p>
            <a:fld id="{FF005DED-B82A-4AEF-8919-1A2CE31EBA33}" type="datetimeFigureOut">
              <a:rPr lang="en-SG" smtClean="0"/>
              <a:t>8/9/2026</a:t>
            </a:fld>
            <a:endParaRPr lang="en-SG"/>
          </a:p>
        </p:txBody>
      </p:sp>
      <p:sp>
        <p:nvSpPr>
          <p:cNvPr id="7" name="Slide Number Placeholder 9">
            <a:extLst>
              <a:ext uri="{FF2B5EF4-FFF2-40B4-BE49-F238E27FC236}">
                <a16:creationId xmlns:a16="http://schemas.microsoft.com/office/drawing/2014/main" id="{EB058DA4-9F6F-CC80-D1C5-728E096806C3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37271" y="6442873"/>
            <a:ext cx="429207" cy="379867"/>
          </a:xfrm>
        </p:spPr>
        <p:txBody>
          <a:bodyPr anchor="b"/>
          <a:lstStyle/>
          <a:p>
            <a:fld id="{4AA90A56-0174-4A40-94A8-568A19157048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57908799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EB0F469B-7972-C862-3265-20EC44D749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064" y="631710"/>
            <a:ext cx="11032239" cy="1115203"/>
          </a:xfrm>
        </p:spPr>
        <p:txBody>
          <a:bodyPr anchor="t">
            <a:no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Picture Placeholder 10">
            <a:extLst>
              <a:ext uri="{FF2B5EF4-FFF2-40B4-BE49-F238E27FC236}">
                <a16:creationId xmlns:a16="http://schemas.microsoft.com/office/drawing/2014/main" id="{1A9091ED-65DB-CA4C-BC68-EC773138EFA0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09181" y="2115403"/>
            <a:ext cx="5786651" cy="4671431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A3F07A79-5344-FA17-3625-1266EFAA87FD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90488" y="2115403"/>
            <a:ext cx="5353815" cy="4110888"/>
          </a:xfrm>
        </p:spPr>
        <p:txBody>
          <a:bodyPr anchor="t">
            <a:no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AC0D704B-E4D2-B261-890F-35C54C94C6EE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6177425" y="6428984"/>
            <a:ext cx="4467829" cy="365125"/>
          </a:xfrm>
        </p:spPr>
        <p:txBody>
          <a:bodyPr anchor="b"/>
          <a:lstStyle/>
          <a:p>
            <a:endParaRPr lang="en-SG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C5932FFD-B632-F7EE-B653-9A621348C003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>
          <a:xfrm>
            <a:off x="10926847" y="6421709"/>
            <a:ext cx="617457" cy="365125"/>
          </a:xfrm>
        </p:spPr>
        <p:txBody>
          <a:bodyPr anchor="b"/>
          <a:lstStyle/>
          <a:p>
            <a:fld id="{4AA90A56-0174-4A40-94A8-568A19157048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00394301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1348" y="644000"/>
            <a:ext cx="2594550" cy="1877132"/>
          </a:xfrm>
        </p:spPr>
        <p:txBody>
          <a:bodyPr anchor="t" anchorCtr="0">
            <a:no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06740" y="2899954"/>
            <a:ext cx="3610418" cy="3314046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02183" y="644000"/>
            <a:ext cx="7183078" cy="5570000"/>
          </a:xfrm>
        </p:spPr>
        <p:txBody>
          <a:bodyPr anchor="b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Footer Placeholder 6">
            <a:extLst>
              <a:ext uri="{FF2B5EF4-FFF2-40B4-BE49-F238E27FC236}">
                <a16:creationId xmlns:a16="http://schemas.microsoft.com/office/drawing/2014/main" id="{E471EB04-B63C-4629-0688-E2CC8C576A5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45926" y="6438284"/>
            <a:ext cx="5276852" cy="365125"/>
          </a:xfrm>
        </p:spPr>
        <p:txBody>
          <a:bodyPr anchor="b"/>
          <a:lstStyle/>
          <a:p>
            <a:endParaRPr lang="en-SG"/>
          </a:p>
        </p:txBody>
      </p:sp>
      <p:sp>
        <p:nvSpPr>
          <p:cNvPr id="12" name="Date Placeholder 5">
            <a:extLst>
              <a:ext uri="{FF2B5EF4-FFF2-40B4-BE49-F238E27FC236}">
                <a16:creationId xmlns:a16="http://schemas.microsoft.com/office/drawing/2014/main" id="{A4924D77-E18C-D84A-F550-9B0188FEBF8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6190488" y="6432496"/>
            <a:ext cx="2544079" cy="365125"/>
          </a:xfrm>
        </p:spPr>
        <p:txBody>
          <a:bodyPr anchor="b"/>
          <a:lstStyle/>
          <a:p>
            <a:fld id="{FF005DED-B82A-4AEF-8919-1A2CE31EBA33}" type="datetimeFigureOut">
              <a:rPr lang="en-SG" smtClean="0"/>
              <a:t>8/9/2026</a:t>
            </a:fld>
            <a:endParaRPr lang="en-SG"/>
          </a:p>
        </p:txBody>
      </p:sp>
      <p:sp>
        <p:nvSpPr>
          <p:cNvPr id="14" name="Slide Number Placeholder 8">
            <a:extLst>
              <a:ext uri="{FF2B5EF4-FFF2-40B4-BE49-F238E27FC236}">
                <a16:creationId xmlns:a16="http://schemas.microsoft.com/office/drawing/2014/main" id="{38B4B455-40D3-EF76-D860-2A6FFBF69836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099128" y="6438284"/>
            <a:ext cx="429207" cy="365125"/>
          </a:xfrm>
        </p:spPr>
        <p:txBody>
          <a:bodyPr anchor="b"/>
          <a:lstStyle/>
          <a:p>
            <a:fld id="{4AA90A56-0174-4A40-94A8-568A19157048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61613405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504688"/>
            <a:ext cx="5902657" cy="1353312"/>
          </a:xfrm>
        </p:spPr>
        <p:txBody>
          <a:bodyPr anchor="b">
            <a:normAutofit/>
          </a:bodyPr>
          <a:lstStyle>
            <a:lvl1pPr>
              <a:lnSpc>
                <a:spcPct val="120000"/>
              </a:lnSpc>
              <a:defRPr sz="2000" b="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-54591" y="-156950"/>
            <a:ext cx="5957248" cy="4510586"/>
          </a:xfrm>
        </p:spPr>
        <p:txBody>
          <a:bodyPr anchor="t"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15000" b="0" i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BB98C21E-A9AF-D3FB-3F6A-06088553C6F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10101" y="5852160"/>
            <a:ext cx="1005840" cy="1005840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62793" y="100701"/>
            <a:ext cx="429207" cy="365125"/>
          </a:xfrm>
        </p:spPr>
        <p:txBody>
          <a:bodyPr/>
          <a:lstStyle/>
          <a:p>
            <a:fld id="{4AA90A56-0174-4A40-94A8-568A19157048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81556620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00584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832976E3-E745-9DF8-C3E3-53A778D9502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96453" y="5852160"/>
            <a:ext cx="1005840" cy="1005840"/>
          </a:xfrm>
          <a:prstGeom prst="rect">
            <a:avLst/>
          </a:prstGeom>
        </p:spPr>
      </p:pic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6F777942-A24A-16CB-2115-A16E397BBB0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91D0C3F1-69CA-2A45-33F7-9AF4B8FFEDB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FF005DED-B82A-4AEF-8919-1A2CE31EBA33}" type="datetimeFigureOut">
              <a:rPr lang="en-SG" smtClean="0"/>
              <a:t>8/9/2026</a:t>
            </a:fld>
            <a:endParaRPr lang="en-SG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8DB65802-3866-05DF-F96B-15A117F7C76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AA90A56-0174-4A40-94A8-568A19157048}" type="slidenum">
              <a:rPr lang="en-SG" smtClean="0"/>
              <a:t>‹#›</a:t>
            </a:fld>
            <a:endParaRPr lang="en-SG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-17470" y="1016759"/>
            <a:ext cx="10082693" cy="5841242"/>
          </a:xfrm>
        </p:spPr>
        <p:txBody>
          <a:bodyPr anchor="b" anchorCtr="0">
            <a:noAutofit/>
          </a:bodyPr>
          <a:lstStyle>
            <a:lvl1pPr marL="0" indent="0">
              <a:lnSpc>
                <a:spcPct val="80000"/>
              </a:lnSpc>
              <a:buNone/>
              <a:defRPr sz="5600" b="0" spc="-200" baseline="0"/>
            </a:lvl1pPr>
            <a:lvl2pPr marL="228600" indent="0">
              <a:lnSpc>
                <a:spcPct val="80000"/>
              </a:lnSpc>
              <a:buNone/>
              <a:defRPr sz="5600" b="0" spc="-200" baseline="0"/>
            </a:lvl2pPr>
            <a:lvl3pPr marL="457200" indent="0">
              <a:lnSpc>
                <a:spcPct val="80000"/>
              </a:lnSpc>
              <a:buNone/>
              <a:defRPr sz="5600" b="0" spc="-200" baseline="0"/>
            </a:lvl3pPr>
            <a:lvl4pPr marL="685800" indent="0">
              <a:lnSpc>
                <a:spcPct val="80000"/>
              </a:lnSpc>
              <a:buNone/>
              <a:defRPr sz="5600" b="0" spc="-200" baseline="0"/>
            </a:lvl4pPr>
            <a:lvl5pPr marL="914400" indent="0">
              <a:lnSpc>
                <a:spcPct val="80000"/>
              </a:lnSpc>
              <a:buNone/>
              <a:defRPr sz="5600" b="0" spc="-200" baseline="0"/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2693087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5DC095FD-8C32-C2DB-3F1D-105AFD1518B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83347" y="5852160"/>
            <a:ext cx="1005840" cy="1005840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CA0FBB42-F049-CCA6-45E1-D60DC58A76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-1" y="5899926"/>
            <a:ext cx="5902657" cy="958073"/>
          </a:xfr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20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5" name="Content Placeholder 6">
            <a:extLst>
              <a:ext uri="{FF2B5EF4-FFF2-40B4-BE49-F238E27FC236}">
                <a16:creationId xmlns:a16="http://schemas.microsoft.com/office/drawing/2014/main" id="{2B5E50A9-B175-CA38-A22A-468AE7533B5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-18288" y="95534"/>
            <a:ext cx="8961120" cy="4476466"/>
          </a:xfrm>
        </p:spPr>
        <p:txBody>
          <a:bodyPr anchor="t">
            <a:normAutofit/>
          </a:bodyPr>
          <a:lstStyle>
            <a:lvl1pPr marL="164592" indent="-164592">
              <a:lnSpc>
                <a:spcPct val="80000"/>
              </a:lnSpc>
              <a:spcBef>
                <a:spcPts val="0"/>
              </a:spcBef>
              <a:buNone/>
              <a:defRPr sz="5600" spc="-2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8" name="Slide Number Placeholder 9">
            <a:extLst>
              <a:ext uri="{FF2B5EF4-FFF2-40B4-BE49-F238E27FC236}">
                <a16:creationId xmlns:a16="http://schemas.microsoft.com/office/drawing/2014/main" id="{84D7E47A-F89A-8F43-C300-185AD1461C0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762793" y="110364"/>
            <a:ext cx="429207" cy="365125"/>
          </a:xfrm>
        </p:spPr>
        <p:txBody>
          <a:bodyPr/>
          <a:lstStyle/>
          <a:p>
            <a:fld id="{4AA90A56-0174-4A40-94A8-568A19157048}" type="slidenum">
              <a:rPr lang="en-SG" smtClean="0"/>
              <a:t>‹#›</a:t>
            </a:fld>
            <a:endParaRPr lang="en-SG"/>
          </a:p>
        </p:txBody>
      </p:sp>
      <p:sp>
        <p:nvSpPr>
          <p:cNvPr id="10" name="Footer Placeholder 3">
            <a:extLst>
              <a:ext uri="{FF2B5EF4-FFF2-40B4-BE49-F238E27FC236}">
                <a16:creationId xmlns:a16="http://schemas.microsoft.com/office/drawing/2014/main" id="{1CA01B7F-0CDC-9F0A-6B3B-A87674D14D6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6193030" y="6392564"/>
            <a:ext cx="3104866" cy="365125"/>
          </a:xfrm>
        </p:spPr>
        <p:txBody>
          <a:bodyPr anchor="b"/>
          <a:lstStyle/>
          <a:p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51322446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2A74F0-5415-CAD7-98B3-4A75913F44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064" y="987552"/>
            <a:ext cx="3465576" cy="294436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151E178-0505-15CE-6ACB-7BE1FB1E52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0353" y="110364"/>
            <a:ext cx="3474720" cy="365125"/>
          </a:xfrm>
        </p:spPr>
        <p:txBody>
          <a:bodyPr/>
          <a:lstStyle/>
          <a:p>
            <a:endParaRPr lang="en-S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B82246E-2BFA-5BAA-F22D-A2618C05A0B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15968" y="104576"/>
            <a:ext cx="4836883" cy="365125"/>
          </a:xfrm>
        </p:spPr>
        <p:txBody>
          <a:bodyPr/>
          <a:lstStyle/>
          <a:p>
            <a:fld id="{FF005DED-B82A-4AEF-8919-1A2CE31EBA33}" type="datetimeFigureOut">
              <a:rPr lang="en-SG" smtClean="0"/>
              <a:t>8/9/2026</a:t>
            </a:fld>
            <a:endParaRPr lang="en-S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4BA02B-433E-FB95-6E96-11393CDBD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90A56-0174-4A40-94A8-568A19157048}" type="slidenum">
              <a:rPr lang="en-SG" smtClean="0"/>
              <a:t>‹#›</a:t>
            </a:fld>
            <a:endParaRPr lang="en-SG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F74B4B98-ABA0-9FD3-485A-984EDEEB4469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4315966" y="987552"/>
            <a:ext cx="7446825" cy="25603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ntent Placeholder 9">
            <a:extLst>
              <a:ext uri="{FF2B5EF4-FFF2-40B4-BE49-F238E27FC236}">
                <a16:creationId xmlns:a16="http://schemas.microsoft.com/office/drawing/2014/main" id="{3822067E-4B47-03C7-3636-0C6F8324E1E9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315967" y="3931920"/>
            <a:ext cx="7446824" cy="25603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296758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EF29C1-2D4D-0529-EAD3-926838F41B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064" y="630936"/>
            <a:ext cx="11018520" cy="10883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A6A1D5A-FFC5-5F10-90D2-A3FBCC3129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0352" y="110364"/>
            <a:ext cx="5276852" cy="365125"/>
          </a:xfrm>
        </p:spPr>
        <p:txBody>
          <a:bodyPr/>
          <a:lstStyle/>
          <a:p>
            <a:endParaRPr lang="en-S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E1BD63D-FC9C-D946-5560-869AEDE315E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190488" y="104576"/>
            <a:ext cx="4836883" cy="365125"/>
          </a:xfrm>
        </p:spPr>
        <p:txBody>
          <a:bodyPr/>
          <a:lstStyle/>
          <a:p>
            <a:fld id="{FF005DED-B82A-4AEF-8919-1A2CE31EBA33}" type="datetimeFigureOut">
              <a:rPr lang="en-SG" smtClean="0"/>
              <a:t>8/9/2026</a:t>
            </a:fld>
            <a:endParaRPr lang="en-S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2EF08D-93E2-AF7A-F559-DDB0B35B87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90A56-0174-4A40-94A8-568A19157048}" type="slidenum">
              <a:rPr lang="en-SG" smtClean="0"/>
              <a:t>‹#›</a:t>
            </a:fld>
            <a:endParaRPr lang="en-SG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148CB9E0-8B46-6608-0C37-7C5ABA9B47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0352" y="2286000"/>
            <a:ext cx="5184648" cy="5340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Content Placeholder 5">
            <a:extLst>
              <a:ext uri="{FF2B5EF4-FFF2-40B4-BE49-F238E27FC236}">
                <a16:creationId xmlns:a16="http://schemas.microsoft.com/office/drawing/2014/main" id="{C2C05A59-CCEE-1225-7022-B1DA682C7041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530351" y="2980943"/>
            <a:ext cx="5183188" cy="3586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6471C19-5F51-6595-B72A-4BFC1E553D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90488" y="2286000"/>
            <a:ext cx="5183188" cy="5340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Content Placeholder 11">
            <a:extLst>
              <a:ext uri="{FF2B5EF4-FFF2-40B4-BE49-F238E27FC236}">
                <a16:creationId xmlns:a16="http://schemas.microsoft.com/office/drawing/2014/main" id="{0AB20C10-A144-EF5E-8276-7E736CE87590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6190488" y="2980944"/>
            <a:ext cx="5183188" cy="358611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219780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6D1F904E-1F4C-373E-2E2B-D7478F70F1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920" y="644663"/>
            <a:ext cx="11045952" cy="10883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0352" y="109728"/>
            <a:ext cx="5276852" cy="365125"/>
          </a:xfrm>
        </p:spPr>
        <p:txBody>
          <a:bodyPr/>
          <a:lstStyle/>
          <a:p>
            <a:endParaRPr lang="en-S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005DED-B82A-4AEF-8919-1A2CE31EBA33}" type="datetimeFigureOut">
              <a:rPr lang="en-SG" smtClean="0"/>
              <a:t>8/9/2026</a:t>
            </a:fld>
            <a:endParaRPr lang="en-S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1928" y="110364"/>
            <a:ext cx="429207" cy="365125"/>
          </a:xfrm>
        </p:spPr>
        <p:txBody>
          <a:bodyPr/>
          <a:lstStyle/>
          <a:p>
            <a:fld id="{4AA90A56-0174-4A40-94A8-568A19157048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62953318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AD1B27E-1142-7BB8-1DE8-D31FA8AA8F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100701"/>
            <a:ext cx="5898630" cy="365125"/>
          </a:xfrm>
        </p:spPr>
        <p:txBody>
          <a:bodyPr/>
          <a:lstStyle/>
          <a:p>
            <a:endParaRPr lang="en-SG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D900E2BC-FCC7-E994-4648-A42CDE51861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17920" y="100701"/>
            <a:ext cx="5332001" cy="365125"/>
          </a:xfrm>
        </p:spPr>
        <p:txBody>
          <a:bodyPr/>
          <a:lstStyle/>
          <a:p>
            <a:fld id="{FF005DED-B82A-4AEF-8919-1A2CE31EBA33}" type="datetimeFigureOut">
              <a:rPr lang="en-SG" smtClean="0"/>
              <a:t>8/9/2026</a:t>
            </a:fld>
            <a:endParaRPr lang="en-SG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9E211A59-CFA8-A0B1-4A4C-E446F90726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62793" y="100701"/>
            <a:ext cx="429207" cy="365125"/>
          </a:xfrm>
        </p:spPr>
        <p:txBody>
          <a:bodyPr/>
          <a:lstStyle/>
          <a:p>
            <a:fld id="{4AA90A56-0174-4A40-94A8-568A19157048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0512935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5926" y="655093"/>
            <a:ext cx="10982409" cy="1528549"/>
          </a:xfrm>
        </p:spPr>
        <p:txBody>
          <a:bodyPr anchor="t">
            <a:no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5926" y="2497540"/>
            <a:ext cx="10982409" cy="3384645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5">
            <a:extLst>
              <a:ext uri="{FF2B5EF4-FFF2-40B4-BE49-F238E27FC236}">
                <a16:creationId xmlns:a16="http://schemas.microsoft.com/office/drawing/2014/main" id="{BD7A9B30-35AB-D437-5276-473CFE5169DF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45926" y="6438284"/>
            <a:ext cx="5276852" cy="365125"/>
          </a:xfrm>
        </p:spPr>
        <p:txBody>
          <a:bodyPr/>
          <a:lstStyle/>
          <a:p>
            <a:endParaRPr lang="en-SG"/>
          </a:p>
        </p:txBody>
      </p:sp>
      <p:sp>
        <p:nvSpPr>
          <p:cNvPr id="4" name="Date Placeholder 4">
            <a:extLst>
              <a:ext uri="{FF2B5EF4-FFF2-40B4-BE49-F238E27FC236}">
                <a16:creationId xmlns:a16="http://schemas.microsoft.com/office/drawing/2014/main" id="{0D033E8C-C8B6-A9F1-6B99-0610AEC435CB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6190488" y="6432496"/>
            <a:ext cx="2544079" cy="365125"/>
          </a:xfrm>
        </p:spPr>
        <p:txBody>
          <a:bodyPr/>
          <a:lstStyle/>
          <a:p>
            <a:fld id="{FF005DED-B82A-4AEF-8919-1A2CE31EBA33}" type="datetimeFigureOut">
              <a:rPr lang="en-SG" smtClean="0"/>
              <a:t>8/9/2026</a:t>
            </a:fld>
            <a:endParaRPr lang="en-SG"/>
          </a:p>
        </p:txBody>
      </p:sp>
      <p:sp>
        <p:nvSpPr>
          <p:cNvPr id="6" name="Slide Number Placeholder 6">
            <a:extLst>
              <a:ext uri="{FF2B5EF4-FFF2-40B4-BE49-F238E27FC236}">
                <a16:creationId xmlns:a16="http://schemas.microsoft.com/office/drawing/2014/main" id="{09C00759-43C5-D4A5-6597-C9F31C4DA2AA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099128" y="6438284"/>
            <a:ext cx="429207" cy="365125"/>
          </a:xfrm>
        </p:spPr>
        <p:txBody>
          <a:bodyPr/>
          <a:lstStyle/>
          <a:p>
            <a:fld id="{4AA90A56-0174-4A40-94A8-568A19157048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54818639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615" y="2883090"/>
            <a:ext cx="7741851" cy="1842020"/>
          </a:xfrm>
        </p:spPr>
        <p:txBody>
          <a:bodyPr anchor="b">
            <a:no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C9D34928-44CA-ACCE-36AD-37689020A3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6906" y="100701"/>
            <a:ext cx="5361724" cy="365125"/>
          </a:xfrm>
        </p:spPr>
        <p:txBody>
          <a:bodyPr/>
          <a:lstStyle/>
          <a:p>
            <a:endParaRPr lang="en-SG"/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B6F43E62-A9B0-571B-E3BD-354206A884C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17921" y="100701"/>
            <a:ext cx="2526030" cy="365125"/>
          </a:xfrm>
        </p:spPr>
        <p:txBody>
          <a:bodyPr/>
          <a:lstStyle/>
          <a:p>
            <a:fld id="{FF005DED-B82A-4AEF-8919-1A2CE31EBA33}" type="datetimeFigureOut">
              <a:rPr lang="en-SG" smtClean="0"/>
              <a:t>8/9/2026</a:t>
            </a:fld>
            <a:endParaRPr lang="en-SG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6905" y="4922111"/>
            <a:ext cx="7741850" cy="1279615"/>
          </a:xfrm>
        </p:spPr>
        <p:txBody>
          <a:bodyPr anchor="t">
            <a:noAutofit/>
          </a:bodyPr>
          <a:lstStyle>
            <a:lvl1pPr marL="0" indent="0">
              <a:buNone/>
              <a:defRPr sz="1400"/>
            </a:lvl1pPr>
            <a:lvl2pPr marL="228600" indent="0">
              <a:buNone/>
              <a:defRPr sz="14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62793" y="6392174"/>
            <a:ext cx="429207" cy="365125"/>
          </a:xfrm>
        </p:spPr>
        <p:txBody>
          <a:bodyPr anchor="b"/>
          <a:lstStyle/>
          <a:p>
            <a:fld id="{4AA90A56-0174-4A40-94A8-568A19157048}" type="slidenum">
              <a:rPr lang="en-SG" smtClean="0"/>
              <a:t>‹#›</a:t>
            </a:fld>
            <a:endParaRPr lang="en-SG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D3CF16D9-01F3-6CE6-7291-C344E099BBD0}"/>
              </a:ext>
            </a:extLst>
          </p:cNvPr>
          <p:cNvSpPr/>
          <p:nvPr/>
        </p:nvSpPr>
        <p:spPr>
          <a:xfrm>
            <a:off x="8454179" y="100701"/>
            <a:ext cx="3557904" cy="3557904"/>
          </a:xfrm>
          <a:prstGeom prst="ellipse">
            <a:avLst/>
          </a:prstGeom>
          <a:noFill/>
          <a:ln w="158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569161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99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8288" y="644663"/>
            <a:ext cx="12001592" cy="10883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190488" y="104576"/>
            <a:ext cx="4836883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 rtl="0">
              <a:lnSpc>
                <a:spcPct val="80000"/>
              </a:lnSpc>
              <a:defRPr sz="1000">
                <a:solidFill>
                  <a:schemeClr val="tx1"/>
                </a:solidFill>
                <a:latin typeface="+mn-lt"/>
              </a:defRPr>
            </a:lvl1pPr>
          </a:lstStyle>
          <a:p>
            <a:fld id="{FF005DED-B82A-4AEF-8919-1A2CE31EBA33}" type="datetimeFigureOut">
              <a:rPr lang="en-SG" smtClean="0"/>
              <a:t>8/9/2026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01" y="110364"/>
            <a:ext cx="5276852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 rtl="0">
              <a:lnSpc>
                <a:spcPct val="80000"/>
              </a:lnSpc>
              <a:defRPr sz="1000">
                <a:solidFill>
                  <a:schemeClr val="tx1"/>
                </a:solidFill>
                <a:latin typeface="+mn-lt"/>
              </a:defRPr>
            </a:lvl1pPr>
          </a:lstStyle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62792" y="110364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 rtl="0">
              <a:lnSpc>
                <a:spcPct val="80000"/>
              </a:lnSpc>
              <a:defRPr sz="1000">
                <a:solidFill>
                  <a:schemeClr val="tx1"/>
                </a:solidFill>
                <a:latin typeface="+mn-lt"/>
              </a:defRPr>
            </a:lvl1pPr>
          </a:lstStyle>
          <a:p>
            <a:fld id="{4AA90A56-0174-4A40-94A8-568A19157048}" type="slidenum">
              <a:rPr lang="en-SG" smtClean="0"/>
              <a:t>‹#›</a:t>
            </a:fld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1907521"/>
            <a:ext cx="12001592" cy="48401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6402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0" r:id="rId1"/>
    <p:sldLayoutId id="2147483861" r:id="rId2"/>
    <p:sldLayoutId id="2147483862" r:id="rId3"/>
    <p:sldLayoutId id="2147483863" r:id="rId4"/>
    <p:sldLayoutId id="2147483864" r:id="rId5"/>
    <p:sldLayoutId id="2147483865" r:id="rId6"/>
    <p:sldLayoutId id="2147483866" r:id="rId7"/>
    <p:sldLayoutId id="2147483867" r:id="rId8"/>
    <p:sldLayoutId id="2147483868" r:id="rId9"/>
    <p:sldLayoutId id="2147483869" r:id="rId10"/>
    <p:sldLayoutId id="2147483870" r:id="rId11"/>
    <p:sldLayoutId id="2147483871" r:id="rId12"/>
    <p:sldLayoutId id="2147483872" r:id="rId13"/>
    <p:sldLayoutId id="2147483873" r:id="rId14"/>
    <p:sldLayoutId id="2147483874" r:id="rId15"/>
    <p:sldLayoutId id="2147483875" r:id="rId16"/>
    <p:sldLayoutId id="2147483876" r:id="rId17"/>
    <p:sldLayoutId id="2147483877" r:id="rId18"/>
    <p:sldLayoutId id="2147483878" r:id="rId19"/>
    <p:sldLayoutId id="2147483879" r:id="rId20"/>
    <p:sldLayoutId id="2147483880" r:id="rId21"/>
    <p:sldLayoutId id="2147483881" r:id="rId22"/>
    <p:sldLayoutId id="2147483882" r:id="rId23"/>
    <p:sldLayoutId id="2147483883" r:id="rId24"/>
    <p:sldLayoutId id="2147483884" r:id="rId25"/>
    <p:sldLayoutId id="2147483885" r:id="rId26"/>
    <p:sldLayoutId id="2147483886" r:id="rId27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600" b="0" i="0" kern="1200" spc="-2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0000"/>
        </a:lnSpc>
        <a:spcBef>
          <a:spcPts val="1000"/>
        </a:spcBef>
        <a:buFont typeface="Arial" panose="020B0604020202020204" pitchFamily="34" charset="0"/>
        <a:buNone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80000"/>
        </a:lnSpc>
        <a:spcBef>
          <a:spcPts val="1000"/>
        </a:spcBef>
        <a:buFont typeface="Arial" panose="020B0604020202020204" pitchFamily="34" charset="0"/>
        <a:buNone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80000"/>
        </a:lnSpc>
        <a:spcBef>
          <a:spcPts val="1000"/>
        </a:spcBef>
        <a:buFont typeface="Arial" panose="020B0604020202020204" pitchFamily="34" charset="0"/>
        <a:buNone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685800" indent="0" algn="l" defTabSz="914400" rtl="0" eaLnBrk="1" latinLnBrk="0" hangingPunct="1">
        <a:lnSpc>
          <a:spcPct val="80000"/>
        </a:lnSpc>
        <a:spcBef>
          <a:spcPts val="1000"/>
        </a:spcBef>
        <a:buFont typeface="Arial" panose="020B0604020202020204" pitchFamily="34" charset="0"/>
        <a:buNone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80000"/>
        </a:lnSpc>
        <a:spcBef>
          <a:spcPts val="1000"/>
        </a:spcBef>
        <a:buFont typeface="Arial" panose="020B0604020202020204" pitchFamily="34" charset="0"/>
        <a:buNone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" orient="horz" pos="2160">
          <p15:clr>
            <a:srgbClr val="F26B43"/>
          </p15:clr>
        </p15:guide>
        <p15:guide id="6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412990-646D-1861-39DA-F2EE5A6E14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064" y="630936"/>
            <a:ext cx="11018520" cy="1088358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ctr"/>
            <a:r>
              <a:rPr lang="en-US" sz="3900" b="0" i="0" kern="1200" spc="-200" baseline="0" dirty="0">
                <a:latin typeface="+mj-lt"/>
                <a:ea typeface="+mj-ea"/>
                <a:cs typeface="+mj-cs"/>
              </a:rPr>
              <a:t>House Price Analytics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CEBF2710-1210-A4FE-B0A7-B438B77125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2063" y="1379478"/>
            <a:ext cx="11018519" cy="534033"/>
          </a:xfrm>
        </p:spPr>
        <p:txBody>
          <a:bodyPr>
            <a:noAutofit/>
          </a:bodyPr>
          <a:lstStyle/>
          <a:p>
            <a:r>
              <a:rPr lang="en-US" sz="2000" dirty="0"/>
              <a:t>Research Question: </a:t>
            </a:r>
            <a:r>
              <a:rPr lang="en-SG" sz="2000" dirty="0"/>
              <a:t>Which features influence house sale prices the most?</a:t>
            </a:r>
          </a:p>
        </p:txBody>
      </p:sp>
      <p:pic>
        <p:nvPicPr>
          <p:cNvPr id="5" name="Picture 4" descr="A cutout of a house with shadow at the back">
            <a:extLst>
              <a:ext uri="{FF2B5EF4-FFF2-40B4-BE49-F238E27FC236}">
                <a16:creationId xmlns:a16="http://schemas.microsoft.com/office/drawing/2014/main" id="{C2B5731C-1EF8-0EB0-3739-14D5DCE18C0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139" r="2275"/>
          <a:stretch>
            <a:fillRect/>
          </a:stretch>
        </p:blipFill>
        <p:spPr>
          <a:xfrm>
            <a:off x="530351" y="2980943"/>
            <a:ext cx="5183188" cy="3586111"/>
          </a:xfrm>
          <a:prstGeom prst="rect">
            <a:avLst/>
          </a:prstGeom>
          <a:noFill/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45DCD98-7D3D-15C9-8FA1-DD2F6D63FF87}"/>
              </a:ext>
            </a:extLst>
          </p:cNvPr>
          <p:cNvSpPr txBox="1"/>
          <p:nvPr/>
        </p:nvSpPr>
        <p:spPr>
          <a:xfrm>
            <a:off x="6190488" y="2286000"/>
            <a:ext cx="5183188" cy="5340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80000"/>
              </a:lnSpc>
              <a:spcBef>
                <a:spcPts val="1000"/>
              </a:spcBef>
            </a:pPr>
            <a:endParaRPr lang="en-US" sz="1400" kern="1200" baseline="0" dirty="0">
              <a:latin typeface="+mn-lt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Content Placeholder 2">
                <a:extLst>
                  <a:ext uri="{FF2B5EF4-FFF2-40B4-BE49-F238E27FC236}">
                    <a16:creationId xmlns:a16="http://schemas.microsoft.com/office/drawing/2014/main" id="{F3C20E3C-A7BF-9A56-A54A-EDA3B82B2327}"/>
                  </a:ext>
                </a:extLst>
              </p:cNvPr>
              <p:cNvSpPr>
                <a:spLocks noGrp="1"/>
              </p:cNvSpPr>
              <p:nvPr>
                <p:ph sz="quarter" idx="18"/>
              </p:nvPr>
            </p:nvSpPr>
            <p:spPr>
              <a:xfrm>
                <a:off x="6190488" y="2980944"/>
                <a:ext cx="5183188" cy="3586110"/>
              </a:xfrm>
            </p:spPr>
            <p:txBody>
              <a:bodyPr vert="horz" lIns="91440" tIns="45720" rIns="91440" bIns="45720" rtlCol="0">
                <a:normAutofit/>
              </a:bodyPr>
              <a:lstStyle/>
              <a:p>
                <a:r>
                  <a:rPr lang="en-US" b="1" dirty="0"/>
                  <a:t>PROJECT</a:t>
                </a:r>
              </a:p>
              <a:p>
                <a:pPr marL="285750" indent="-285750">
                  <a:buClr>
                    <a:schemeClr val="bg1"/>
                  </a:buClr>
                  <a:buFont typeface="Arial" panose="020B0604020202020204" pitchFamily="34" charset="0"/>
                  <a:buChar char="•"/>
                </a:pPr>
                <a:r>
                  <a:rPr lang="en-US" dirty="0"/>
                  <a:t>01  Data Cleaning and EDA</a:t>
                </a:r>
              </a:p>
              <a:p>
                <a:pPr marL="285750" indent="-285750">
                  <a:buClr>
                    <a:schemeClr val="bg1"/>
                  </a:buClr>
                  <a:buFont typeface="Arial" panose="020B0604020202020204" pitchFamily="34" charset="0"/>
                  <a:buChar char="•"/>
                </a:pPr>
                <a:r>
                  <a:rPr lang="en-US" dirty="0"/>
                  <a:t>02 Tableau Analysis</a:t>
                </a:r>
              </a:p>
              <a:p>
                <a:pPr marL="285750" indent="-285750">
                  <a:buClr>
                    <a:schemeClr val="bg1"/>
                  </a:buClr>
                  <a:buFont typeface="Arial" panose="020B0604020202020204" pitchFamily="34" charset="0"/>
                  <a:buChar char="•"/>
                </a:pPr>
                <a:r>
                  <a:rPr lang="en-US" dirty="0"/>
                  <a:t>03 Regression Modelling</a:t>
                </a:r>
              </a:p>
              <a:p>
                <a:pPr marL="285750" indent="-285750">
                  <a:buClr>
                    <a:schemeClr val="bg1"/>
                  </a:buClr>
                  <a:buFont typeface="Arial" panose="020B0604020202020204" pitchFamily="34" charset="0"/>
                  <a:buChar char="•"/>
                </a:pPr>
                <a:endParaRPr lang="en-US" b="1" dirty="0"/>
              </a:p>
              <a:p>
                <a:pPr marL="285750" indent="-285750">
                  <a:buClr>
                    <a:schemeClr val="bg1"/>
                  </a:buClr>
                  <a:buFont typeface="Arial" panose="020B0604020202020204" pitchFamily="34" charset="0"/>
                  <a:buChar char="•"/>
                </a:pPr>
                <a:endParaRPr lang="en-US" b="1" dirty="0"/>
              </a:p>
              <a:p>
                <a:pPr>
                  <a:buClr>
                    <a:schemeClr val="bg1"/>
                  </a:buClr>
                </a:pPr>
                <a:r>
                  <a:rPr lang="en-US" b="1" dirty="0"/>
                  <a:t>TOOLS USED</a:t>
                </a:r>
              </a:p>
              <a:p>
                <a:pPr marL="285750" indent="-285750">
                  <a:buClr>
                    <a:schemeClr val="bg1"/>
                  </a:buClr>
                  <a:buFont typeface="Arial" panose="020B0604020202020204" pitchFamily="34" charset="0"/>
                  <a:buChar char="•"/>
                </a:pPr>
                <a:r>
                  <a:rPr lang="en-US" dirty="0"/>
                  <a:t>Python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</m:oMath>
                </a14:m>
                <a:r>
                  <a:rPr lang="en-US" dirty="0"/>
                  <a:t> Tableau</a:t>
                </a:r>
              </a:p>
              <a:p>
                <a:pPr>
                  <a:buClr>
                    <a:schemeClr val="bg1"/>
                  </a:buClr>
                </a:pPr>
                <a:endParaRPr lang="en-US" dirty="0"/>
              </a:p>
              <a:p>
                <a:pPr>
                  <a:buClr>
                    <a:schemeClr val="bg1"/>
                  </a:buClr>
                </a:pPr>
                <a:endParaRPr lang="en-US" dirty="0"/>
              </a:p>
              <a:p>
                <a:pPr>
                  <a:buClr>
                    <a:schemeClr val="bg1"/>
                  </a:buClr>
                </a:pPr>
                <a:r>
                  <a:rPr lang="en-US" b="1" dirty="0"/>
                  <a:t>AUTHOR</a:t>
                </a:r>
              </a:p>
              <a:p>
                <a:pPr marL="285750" indent="-285750">
                  <a:buClr>
                    <a:schemeClr val="bg1"/>
                  </a:buClr>
                  <a:buFont typeface="Arial" panose="020B0604020202020204" pitchFamily="34" charset="0"/>
                  <a:buChar char="•"/>
                </a:pPr>
                <a:r>
                  <a:rPr lang="en-US"/>
                  <a:t>Soh Kai Xun</a:t>
                </a:r>
                <a:endParaRPr lang="en-US" dirty="0"/>
              </a:p>
            </p:txBody>
          </p:sp>
        </mc:Choice>
        <mc:Fallback xmlns="">
          <p:sp>
            <p:nvSpPr>
              <p:cNvPr id="14" name="Content Placeholder 2">
                <a:extLst>
                  <a:ext uri="{FF2B5EF4-FFF2-40B4-BE49-F238E27FC236}">
                    <a16:creationId xmlns:a16="http://schemas.microsoft.com/office/drawing/2014/main" id="{F3C20E3C-A7BF-9A56-A54A-EDA3B82B232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8"/>
              </p:nvPr>
            </p:nvSpPr>
            <p:spPr>
              <a:xfrm>
                <a:off x="6190488" y="2980944"/>
                <a:ext cx="5183188" cy="3586110"/>
              </a:xfrm>
              <a:blipFill>
                <a:blip r:embed="rId3"/>
                <a:stretch>
                  <a:fillRect l="-353" t="-1361" b="-340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642082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35F764-F307-D33E-A59B-0CE70D5C0E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Dataset &amp; Data Preparation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B15743-6CE0-3EE9-501E-B248705DAF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0351" y="1751967"/>
            <a:ext cx="5184648" cy="534033"/>
          </a:xfrm>
        </p:spPr>
        <p:txBody>
          <a:bodyPr>
            <a:normAutofit/>
          </a:bodyPr>
          <a:lstStyle/>
          <a:p>
            <a:pPr algn="ctr"/>
            <a:r>
              <a:rPr lang="en-SG" sz="2000" u="sng" dirty="0"/>
              <a:t>Dataset Information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8BD2CB7-CA77-FEC0-8905-925C33A64DB9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530351" y="2452255"/>
            <a:ext cx="5183188" cy="4114799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SG" sz="1600" dirty="0"/>
              <a:t>Source: House Prices Advanced Regression Techniques (Ames Housing Dataset) from Kaggle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SG" sz="1600" dirty="0"/>
              <a:t>Size (after cleaning): 1456 rows, 106 columns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SG" sz="1600" dirty="0"/>
              <a:t>Target variable: Sale Price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SG" sz="1600" dirty="0"/>
          </a:p>
          <a:p>
            <a:endParaRPr lang="en-SG" sz="1600" dirty="0"/>
          </a:p>
          <a:p>
            <a:r>
              <a:rPr lang="en-SG" sz="1600" dirty="0"/>
              <a:t>Number of houses analysed: 		1456</a:t>
            </a:r>
          </a:p>
          <a:p>
            <a:r>
              <a:rPr lang="en-SG" sz="1600" dirty="0"/>
              <a:t>Average sale price: 		$180.2k</a:t>
            </a:r>
          </a:p>
          <a:p>
            <a:r>
              <a:rPr lang="en-SG" sz="1600" dirty="0"/>
              <a:t>Median sale price: 			$163.0k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EC39CF4-056C-0E37-E746-CA655B8564F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096000" y="1719294"/>
            <a:ext cx="5183188" cy="534033"/>
          </a:xfrm>
        </p:spPr>
        <p:txBody>
          <a:bodyPr>
            <a:normAutofit/>
          </a:bodyPr>
          <a:lstStyle/>
          <a:p>
            <a:pPr algn="ctr"/>
            <a:r>
              <a:rPr lang="en-SG" sz="2000" u="sng" dirty="0"/>
              <a:t>Data Preparation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99514C-14A4-3ED5-BD81-4A9286227546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6190488" y="2452255"/>
            <a:ext cx="5183188" cy="4114799"/>
          </a:xfrm>
        </p:spPr>
        <p:txBody>
          <a:bodyPr>
            <a:normAutofit lnSpcReduction="10000"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SG" dirty="0"/>
              <a:t>Duplicated values: 		    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SG" dirty="0"/>
              <a:t>Total missing values before cleaning:	    7829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SG" dirty="0"/>
              <a:t>Total missing values after cleaning:	    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SG" dirty="0"/>
              <a:t>Outliers removed (</a:t>
            </a:r>
            <a:r>
              <a:rPr lang="en-SG" dirty="0" err="1"/>
              <a:t>GrLivArea</a:t>
            </a:r>
            <a:r>
              <a:rPr lang="en-SG" dirty="0"/>
              <a:t> &gt; 4000):	    4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SG" dirty="0"/>
              <a:t>Ordinal columns numerically encoded:	    10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SG" dirty="0"/>
              <a:t>Total data inconsistencies found: 	    4    </a:t>
            </a:r>
          </a:p>
          <a:p>
            <a:endParaRPr lang="en-SG" dirty="0"/>
          </a:p>
          <a:p>
            <a:pPr>
              <a:lnSpc>
                <a:spcPct val="110000"/>
              </a:lnSpc>
            </a:pPr>
            <a:r>
              <a:rPr lang="en-SG" dirty="0"/>
              <a:t>Note: Data imputation was applied on 259 missing values for </a:t>
            </a:r>
            <a:r>
              <a:rPr lang="en-SG" dirty="0" err="1"/>
              <a:t>LotFrontage</a:t>
            </a:r>
            <a:r>
              <a:rPr lang="en-SG" dirty="0"/>
              <a:t>, 8 in </a:t>
            </a:r>
            <a:r>
              <a:rPr lang="en-SG" dirty="0" err="1"/>
              <a:t>MasVnrArea</a:t>
            </a:r>
            <a:r>
              <a:rPr lang="en-SG" dirty="0"/>
              <a:t> and 1 in Electrical. The remaining missing values were identified as structural missingness and were imputed correspondingly.</a:t>
            </a:r>
          </a:p>
          <a:p>
            <a:pPr>
              <a:lnSpc>
                <a:spcPct val="110000"/>
              </a:lnSpc>
            </a:pPr>
            <a:r>
              <a:rPr lang="en-SG" dirty="0"/>
              <a:t>Data inconsistencies were addressed where appropriate, while certain inconsistencies were retained where correction was not deemed necessary alone (Further details are provided in the data_cleaning_report.docx)</a:t>
            </a:r>
          </a:p>
        </p:txBody>
      </p:sp>
    </p:spTree>
    <p:extLst>
      <p:ext uri="{BB962C8B-B14F-4D97-AF65-F5344CB8AC3E}">
        <p14:creationId xmlns:p14="http://schemas.microsoft.com/office/powerpoint/2010/main" val="37319419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6A9DD5C3-8C6E-457B-4273-599495961EE5}"/>
              </a:ext>
            </a:extLst>
          </p:cNvPr>
          <p:cNvSpPr/>
          <p:nvPr/>
        </p:nvSpPr>
        <p:spPr>
          <a:xfrm>
            <a:off x="530351" y="1495581"/>
            <a:ext cx="11018519" cy="1695735"/>
          </a:xfrm>
          <a:prstGeom prst="roundRect">
            <a:avLst>
              <a:gd name="adj" fmla="val 14290"/>
            </a:avLst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1DA3FD-9219-32D6-C1C6-78B992A506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Project Objective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A252E5-8988-933C-FC4F-6EFF3DA62D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61416" y="1628963"/>
            <a:ext cx="10735278" cy="1465467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SG" sz="2400" dirty="0"/>
              <a:t>Objective: To identify property characteristics and key factors affecting property prices, to provide actionable insights for prospective buyers to make informed purchasing decisions.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A588D1-C15A-5256-7852-7D7017C01D1B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611619" y="4208662"/>
            <a:ext cx="10937251" cy="2358392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SG" sz="1600" dirty="0"/>
              <a:t>What drive sale price?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SG" sz="1600" dirty="0"/>
              <a:t>How does location matter?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SG" sz="1600" dirty="0"/>
              <a:t>How do size and house age associate with quality?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CD88929-7034-FE36-5CFD-B405D7253E2F}"/>
              </a:ext>
            </a:extLst>
          </p:cNvPr>
          <p:cNvSpPr txBox="1"/>
          <p:nvPr/>
        </p:nvSpPr>
        <p:spPr>
          <a:xfrm>
            <a:off x="611619" y="3710843"/>
            <a:ext cx="1101851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000" dirty="0"/>
              <a:t>Connecting the Dots:</a:t>
            </a:r>
          </a:p>
        </p:txBody>
      </p:sp>
    </p:spTree>
    <p:extLst>
      <p:ext uri="{BB962C8B-B14F-4D97-AF65-F5344CB8AC3E}">
        <p14:creationId xmlns:p14="http://schemas.microsoft.com/office/powerpoint/2010/main" val="31662426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E0C439-BABC-6199-AF9A-95BF1B44AC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6589" y="232434"/>
            <a:ext cx="4446871" cy="799953"/>
          </a:xfrm>
        </p:spPr>
        <p:txBody>
          <a:bodyPr anchor="t">
            <a:normAutofit/>
          </a:bodyPr>
          <a:lstStyle/>
          <a:p>
            <a:r>
              <a:rPr lang="en-SG" dirty="0"/>
              <a:t>Dashboard 1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F4F29623-3E70-A663-34AA-E955C7B550E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06589" y="1703439"/>
            <a:ext cx="3976343" cy="4750455"/>
          </a:xfrm>
        </p:spPr>
        <p:txBody>
          <a:bodyPr>
            <a:normAutofit/>
          </a:bodyPr>
          <a:lstStyle/>
          <a:p>
            <a:r>
              <a:rPr lang="en-US" sz="3000" dirty="0"/>
              <a:t>Quality and location matter more than size</a:t>
            </a:r>
          </a:p>
          <a:p>
            <a:r>
              <a:rPr lang="en-US" sz="3000" dirty="0"/>
              <a:t>_______________________</a:t>
            </a:r>
          </a:p>
          <a:p>
            <a:endParaRPr lang="en-US" sz="30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1600" dirty="0"/>
              <a:t>Overall quality is the top price driver, having the strongest correlation than any size metric.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1600" dirty="0"/>
              <a:t>Within the top 5 neighbourhoods, Northridge Heights sells for ~40% more than Somerset, while</a:t>
            </a:r>
            <a:r>
              <a:rPr lang="en-SG" sz="1600" dirty="0"/>
              <a:t> selling 13% more than Stone Brook despite having a similar average quality.</a:t>
            </a:r>
            <a:endParaRPr lang="en-US" sz="16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1600" dirty="0"/>
              <a:t>House size still matters, but quality influences price at any given size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55E478B8-BFBA-5510-CA58-EEF6453C05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2290" y="895870"/>
            <a:ext cx="7320224" cy="5962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33380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AD6564-A319-63B4-5807-552B32DDD9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11C21C-1E33-B554-55CF-A011950B3D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6589" y="232434"/>
            <a:ext cx="4446871" cy="799953"/>
          </a:xfrm>
        </p:spPr>
        <p:txBody>
          <a:bodyPr anchor="t">
            <a:normAutofit/>
          </a:bodyPr>
          <a:lstStyle/>
          <a:p>
            <a:r>
              <a:rPr lang="en-SG" dirty="0"/>
              <a:t>Dashboard 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ontent Placeholder 2">
                <a:extLst>
                  <a:ext uri="{FF2B5EF4-FFF2-40B4-BE49-F238E27FC236}">
                    <a16:creationId xmlns:a16="http://schemas.microsoft.com/office/drawing/2014/main" id="{F022B44C-A407-7C04-E274-3C1FAF9C28E7}"/>
                  </a:ext>
                </a:extLst>
              </p:cNvPr>
              <p:cNvSpPr>
                <a:spLocks noGrp="1"/>
              </p:cNvSpPr>
              <p:nvPr>
                <p:ph sz="quarter" idx="14"/>
              </p:nvPr>
            </p:nvSpPr>
            <p:spPr>
              <a:xfrm>
                <a:off x="306589" y="1703439"/>
                <a:ext cx="3976343" cy="4738656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US" sz="3000" dirty="0"/>
                  <a:t>Quality matters more than age, while amenities add further value</a:t>
                </a:r>
              </a:p>
              <a:p>
                <a:r>
                  <a:rPr lang="en-US" sz="3000" dirty="0"/>
                  <a:t>_______________________</a:t>
                </a:r>
              </a:p>
              <a:p>
                <a:endParaRPr lang="en-US" sz="3000" dirty="0"/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US" sz="1600" dirty="0"/>
                  <a:t>House age explains almost none of the price variation among high-quality homes 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SG" sz="1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SG" sz="16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SG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SG" sz="1600" b="0" i="1" smtClean="0">
                        <a:latin typeface="Cambria Math" panose="02040503050406030204" pitchFamily="18" charset="0"/>
                      </a:rPr>
                      <m:t>=1.8%</m:t>
                    </m:r>
                  </m:oMath>
                </a14:m>
                <a:r>
                  <a:rPr lang="en-US" sz="1600" dirty="0"/>
                  <a:t>)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US" sz="1600" dirty="0"/>
                  <a:t>Overall quality shows a clear, steady increase in sale price, although price variation (IQR) also widens at higher quality levels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US" sz="1600" dirty="0"/>
                  <a:t>Higher-quality amenities are generally linked to higher sale prices, with excellent kitchen and exterior quality showing the largest premiums.</a:t>
                </a:r>
              </a:p>
            </p:txBody>
          </p:sp>
        </mc:Choice>
        <mc:Fallback xmlns="">
          <p:sp>
            <p:nvSpPr>
              <p:cNvPr id="12" name="Content Placeholder 2">
                <a:extLst>
                  <a:ext uri="{FF2B5EF4-FFF2-40B4-BE49-F238E27FC236}">
                    <a16:creationId xmlns:a16="http://schemas.microsoft.com/office/drawing/2014/main" id="{F022B44C-A407-7C04-E274-3C1FAF9C28E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4"/>
              </p:nvPr>
            </p:nvSpPr>
            <p:spPr>
              <a:xfrm>
                <a:off x="306589" y="1703439"/>
                <a:ext cx="3976343" cy="4738656"/>
              </a:xfrm>
              <a:blipFill>
                <a:blip r:embed="rId2"/>
                <a:stretch>
                  <a:fillRect l="-3522" t="-4370" r="-5513" b="-900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2E67267E-1604-DF5D-7B6B-08874C1E4A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2290" y="895870"/>
            <a:ext cx="7466933" cy="5933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98592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BEC022-628F-3558-72CA-24688A2273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FC8DAF9-1442-9F2D-0CDA-8C17AF8C682E}"/>
              </a:ext>
            </a:extLst>
          </p:cNvPr>
          <p:cNvSpPr/>
          <p:nvPr/>
        </p:nvSpPr>
        <p:spPr>
          <a:xfrm>
            <a:off x="378175" y="2717321"/>
            <a:ext cx="2287093" cy="1695735"/>
          </a:xfrm>
          <a:prstGeom prst="roundRect">
            <a:avLst>
              <a:gd name="adj" fmla="val 14290"/>
            </a:avLst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dirty="0">
                <a:solidFill>
                  <a:schemeClr val="tx1"/>
                </a:solidFill>
              </a:rPr>
              <a:t>What makes a house valuable?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41D782-23F9-E08B-5919-430FA50E29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Housing Price Storyboard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AC60BEAB-4D6E-7BE1-BC2B-A728D1608528}"/>
              </a:ext>
            </a:extLst>
          </p:cNvPr>
          <p:cNvSpPr/>
          <p:nvPr/>
        </p:nvSpPr>
        <p:spPr>
          <a:xfrm>
            <a:off x="3377307" y="2717319"/>
            <a:ext cx="2287093" cy="1695735"/>
          </a:xfrm>
          <a:prstGeom prst="roundRect">
            <a:avLst>
              <a:gd name="adj" fmla="val 14290"/>
            </a:avLst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dirty="0">
                <a:solidFill>
                  <a:schemeClr val="tx1"/>
                </a:solidFill>
              </a:rPr>
              <a:t>Quality is the strongest price driver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7E8957E5-0014-98BD-C5D6-C3651A4E5412}"/>
              </a:ext>
            </a:extLst>
          </p:cNvPr>
          <p:cNvSpPr/>
          <p:nvPr/>
        </p:nvSpPr>
        <p:spPr>
          <a:xfrm>
            <a:off x="6376439" y="2717319"/>
            <a:ext cx="2287093" cy="1695735"/>
          </a:xfrm>
          <a:prstGeom prst="roundRect">
            <a:avLst>
              <a:gd name="adj" fmla="val 14290"/>
            </a:avLst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dirty="0">
                <a:solidFill>
                  <a:schemeClr val="tx1"/>
                </a:solidFill>
              </a:rPr>
              <a:t>Location matters too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EDB08749-74A4-A354-D844-76AB5C4E48AA}"/>
              </a:ext>
            </a:extLst>
          </p:cNvPr>
          <p:cNvSpPr/>
          <p:nvPr/>
        </p:nvSpPr>
        <p:spPr>
          <a:xfrm>
            <a:off x="9409531" y="2717321"/>
            <a:ext cx="2287093" cy="1695735"/>
          </a:xfrm>
          <a:prstGeom prst="roundRect">
            <a:avLst>
              <a:gd name="adj" fmla="val 14290"/>
            </a:avLst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dirty="0">
                <a:solidFill>
                  <a:schemeClr val="tx1"/>
                </a:solidFill>
              </a:rPr>
              <a:t>No single factor explains price.</a:t>
            </a:r>
          </a:p>
          <a:p>
            <a:pPr algn="ctr"/>
            <a:r>
              <a:rPr lang="en-SG" dirty="0">
                <a:solidFill>
                  <a:schemeClr val="tx1"/>
                </a:solidFill>
              </a:rPr>
              <a:t>It’s a combo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59E382B4-8A16-072B-F766-A00352E333FA}"/>
              </a:ext>
            </a:extLst>
          </p:cNvPr>
          <p:cNvCxnSpPr>
            <a:stCxn id="7" idx="3"/>
            <a:endCxn id="12" idx="1"/>
          </p:cNvCxnSpPr>
          <p:nvPr/>
        </p:nvCxnSpPr>
        <p:spPr>
          <a:xfrm flipV="1">
            <a:off x="2665268" y="3565187"/>
            <a:ext cx="712039" cy="2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C528CBD1-1EAC-73EF-E617-73B7925DC967}"/>
              </a:ext>
            </a:extLst>
          </p:cNvPr>
          <p:cNvCxnSpPr>
            <a:stCxn id="12" idx="3"/>
            <a:endCxn id="14" idx="1"/>
          </p:cNvCxnSpPr>
          <p:nvPr/>
        </p:nvCxnSpPr>
        <p:spPr>
          <a:xfrm>
            <a:off x="5664400" y="3565187"/>
            <a:ext cx="712039" cy="0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4B09130C-EA4A-C043-5002-2DF36EAA1443}"/>
              </a:ext>
            </a:extLst>
          </p:cNvPr>
          <p:cNvCxnSpPr>
            <a:stCxn id="14" idx="3"/>
            <a:endCxn id="16" idx="1"/>
          </p:cNvCxnSpPr>
          <p:nvPr/>
        </p:nvCxnSpPr>
        <p:spPr>
          <a:xfrm>
            <a:off x="8663532" y="3565187"/>
            <a:ext cx="745999" cy="2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4" name="Oval 23">
            <a:extLst>
              <a:ext uri="{FF2B5EF4-FFF2-40B4-BE49-F238E27FC236}">
                <a16:creationId xmlns:a16="http://schemas.microsoft.com/office/drawing/2014/main" id="{FFC46A39-8D4F-F1FC-C8A7-EB7C4A731CA1}"/>
              </a:ext>
            </a:extLst>
          </p:cNvPr>
          <p:cNvSpPr/>
          <p:nvPr/>
        </p:nvSpPr>
        <p:spPr>
          <a:xfrm>
            <a:off x="126175" y="2390240"/>
            <a:ext cx="504000" cy="504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dirty="0"/>
              <a:t>1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5877E679-69E1-10FC-ECF9-543E8D30C730}"/>
              </a:ext>
            </a:extLst>
          </p:cNvPr>
          <p:cNvSpPr/>
          <p:nvPr/>
        </p:nvSpPr>
        <p:spPr>
          <a:xfrm>
            <a:off x="3125307" y="2487631"/>
            <a:ext cx="504000" cy="504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dirty="0"/>
              <a:t>2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6F31D468-BCBE-C457-916F-A4187580B304}"/>
              </a:ext>
            </a:extLst>
          </p:cNvPr>
          <p:cNvSpPr/>
          <p:nvPr/>
        </p:nvSpPr>
        <p:spPr>
          <a:xfrm>
            <a:off x="6124439" y="2465319"/>
            <a:ext cx="504000" cy="504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dirty="0"/>
              <a:t>3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8AABBECF-C990-1CBB-3977-CAF62C8A71EF}"/>
              </a:ext>
            </a:extLst>
          </p:cNvPr>
          <p:cNvSpPr/>
          <p:nvPr/>
        </p:nvSpPr>
        <p:spPr>
          <a:xfrm>
            <a:off x="9157531" y="2487631"/>
            <a:ext cx="504000" cy="504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6582836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A7B750-0A31-D0C4-8C49-18ADC5A21C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Recommendations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4D9EF5BF-2BF4-922C-4FBC-C5E2A6EB3AEA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530351" y="2168106"/>
                <a:ext cx="11244205" cy="4146555"/>
              </a:xfrm>
            </p:spPr>
            <p:txBody>
              <a:bodyPr>
                <a:normAutofit/>
              </a:bodyPr>
              <a:lstStyle/>
              <a:p>
                <a:pPr marL="342900" indent="-342900">
                  <a:buFont typeface="+mj-lt"/>
                  <a:buAutoNum type="arabicParenR"/>
                </a:pPr>
                <a:r>
                  <a:rPr lang="en-SG" sz="2000" dirty="0">
                    <a:solidFill>
                      <a:schemeClr val="tx1"/>
                    </a:solidFill>
                  </a:rPr>
                  <a:t>Prioritise property quality over size and age</a:t>
                </a:r>
              </a:p>
              <a:p>
                <a:pPr marL="571500" lvl="1" indent="-342900">
                  <a:buFont typeface="Arial" panose="020B0604020202020204" pitchFamily="34" charset="0"/>
                  <a:buChar char="•"/>
                </a:pPr>
                <a:r>
                  <a:rPr lang="en-SG" sz="1600" dirty="0">
                    <a:solidFill>
                      <a:schemeClr val="tx1"/>
                    </a:solidFill>
                  </a:rPr>
                  <a:t>Invest in quality, condition rather than simply adding space</a:t>
                </a:r>
              </a:p>
              <a:p>
                <a:pPr marL="571500" lvl="1" indent="-342900">
                  <a:buFont typeface="Arial" panose="020B0604020202020204" pitchFamily="34" charset="0"/>
                  <a:buChar char="•"/>
                </a:pPr>
                <a:r>
                  <a:rPr lang="en-SG" sz="1600" dirty="0">
                    <a:solidFill>
                      <a:schemeClr val="tx1"/>
                    </a:solidFill>
                  </a:rPr>
                  <a:t>Age alone matters little 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SG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SG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SG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SG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=1.8%</m:t>
                    </m:r>
                  </m:oMath>
                </a14:m>
                <a:r>
                  <a:rPr lang="en-SG" sz="1600" dirty="0">
                    <a:solidFill>
                      <a:schemeClr val="tx1"/>
                    </a:solidFill>
                  </a:rPr>
                  <a:t>). A well maintained older home can cost more than a newer, lower-quality property</a:t>
                </a:r>
              </a:p>
              <a:p>
                <a:pPr marL="342900" indent="-342900">
                  <a:buFont typeface="+mj-lt"/>
                  <a:buAutoNum type="arabicParenR"/>
                </a:pPr>
                <a:r>
                  <a:rPr lang="en-SG" sz="2000" dirty="0">
                    <a:solidFill>
                      <a:schemeClr val="tx1"/>
                    </a:solidFill>
                  </a:rPr>
                  <a:t>Prioritise kitchen and exterior upgrades when upgrading a property</a:t>
                </a:r>
              </a:p>
              <a:p>
                <a:pPr marL="571500" lvl="1" indent="-342900">
                  <a:buFont typeface="Arial" panose="020B0604020202020204" pitchFamily="34" charset="0"/>
                  <a:buChar char="•"/>
                </a:pPr>
                <a:r>
                  <a:rPr lang="en-SG" sz="1600" dirty="0">
                    <a:solidFill>
                      <a:schemeClr val="tx1"/>
                    </a:solidFill>
                  </a:rPr>
                  <a:t>Not all upgrades are </a:t>
                </a:r>
                <a:r>
                  <a:rPr lang="en-SG" sz="1600" dirty="0"/>
                  <a:t>equal. </a:t>
                </a:r>
                <a:r>
                  <a:rPr lang="en-SG" sz="1600" dirty="0">
                    <a:solidFill>
                      <a:schemeClr val="tx1"/>
                    </a:solidFill>
                  </a:rPr>
                  <a:t>Kitchen and exterior upgrades show large price premiums at higher quality levels</a:t>
                </a:r>
              </a:p>
              <a:p>
                <a:pPr marL="342900" indent="-342900">
                  <a:buFont typeface="+mj-lt"/>
                  <a:buAutoNum type="arabicParenR"/>
                </a:pPr>
                <a:r>
                  <a:rPr lang="en-SG" sz="2000" dirty="0">
                    <a:solidFill>
                      <a:schemeClr val="tx1"/>
                    </a:solidFill>
                  </a:rPr>
                  <a:t>Optimise living space, rather than maximising size</a:t>
                </a:r>
              </a:p>
              <a:p>
                <a:pPr marL="571500" lvl="1" indent="-342900">
                  <a:buFont typeface="Arial" panose="020B0604020202020204" pitchFamily="34" charset="0"/>
                  <a:buChar char="•"/>
                </a:pPr>
                <a:r>
                  <a:rPr lang="en-SG" sz="1600" dirty="0"/>
                  <a:t>Larger living areas are associated with higher sale prices, but size alone does not explain property value</a:t>
                </a:r>
              </a:p>
              <a:p>
                <a:pPr marL="571500" lvl="1" indent="-342900">
                  <a:buFont typeface="Arial" panose="020B0604020202020204" pitchFamily="34" charset="0"/>
                  <a:buChar char="•"/>
                </a:pPr>
                <a:r>
                  <a:rPr lang="en-SG" sz="1600" dirty="0"/>
                  <a:t>Focus on functional space that maintains or improves property quality, rather than adding floor area simply to make the house bigger.</a:t>
                </a:r>
              </a:p>
              <a:p>
                <a:pPr marL="342900" indent="-342900">
                  <a:buFont typeface="+mj-lt"/>
                  <a:buAutoNum type="arabicParenR"/>
                </a:pPr>
                <a:r>
                  <a:rPr lang="en-SG" sz="2000" dirty="0"/>
                  <a:t>Use neighbourhood as a key pricing benchmark</a:t>
                </a:r>
              </a:p>
              <a:p>
                <a:pPr marL="571500" lvl="1" indent="-342900">
                  <a:buFont typeface="Arial" panose="020B0604020202020204" pitchFamily="34" charset="0"/>
                  <a:buChar char="•"/>
                </a:pPr>
                <a:r>
                  <a:rPr lang="en-SG" sz="1600" dirty="0"/>
                  <a:t>Sale prices differ across neighbourhoods. If budget is tight, consider investing in locations as location can’t be changed but quality aspects could be upgraded</a:t>
                </a:r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4D9EF5BF-2BF4-922C-4FBC-C5E2A6EB3AE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530351" y="2168106"/>
                <a:ext cx="11244205" cy="4146555"/>
              </a:xfrm>
              <a:blipFill>
                <a:blip r:embed="rId2"/>
                <a:stretch>
                  <a:fillRect l="-596" t="-2500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187326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C2BF7D-E58C-196C-C9BF-77BF6170E5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Data Split &amp; Evaluation Strategy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D9BF77A-CF7C-1F35-1A0F-B898A8CFBC76}"/>
              </a:ext>
            </a:extLst>
          </p:cNvPr>
          <p:cNvSpPr/>
          <p:nvPr/>
        </p:nvSpPr>
        <p:spPr>
          <a:xfrm>
            <a:off x="166778" y="2403895"/>
            <a:ext cx="1190445" cy="799381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dirty="0"/>
              <a:t>Original</a:t>
            </a:r>
          </a:p>
          <a:p>
            <a:pPr algn="ctr"/>
            <a:r>
              <a:rPr lang="en-SG" dirty="0"/>
              <a:t>Dataset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9474CDD-9AFB-3E26-FBD8-EE3BD382E084}"/>
              </a:ext>
            </a:extLst>
          </p:cNvPr>
          <p:cNvCxnSpPr>
            <a:cxnSpLocks/>
          </p:cNvCxnSpPr>
          <p:nvPr/>
        </p:nvCxnSpPr>
        <p:spPr>
          <a:xfrm>
            <a:off x="1357223" y="2803585"/>
            <a:ext cx="391064" cy="0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BC1AC208-D670-5FD5-183F-C728AD3C7DDF}"/>
              </a:ext>
            </a:extLst>
          </p:cNvPr>
          <p:cNvCxnSpPr>
            <a:cxnSpLocks/>
          </p:cNvCxnSpPr>
          <p:nvPr/>
        </p:nvCxnSpPr>
        <p:spPr>
          <a:xfrm flipV="1">
            <a:off x="1742538" y="2156603"/>
            <a:ext cx="621100" cy="64698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492B95CA-2911-D74A-9461-71C203F02CAC}"/>
              </a:ext>
            </a:extLst>
          </p:cNvPr>
          <p:cNvCxnSpPr>
            <a:cxnSpLocks/>
            <a:endCxn id="32" idx="1"/>
          </p:cNvCxnSpPr>
          <p:nvPr/>
        </p:nvCxnSpPr>
        <p:spPr>
          <a:xfrm>
            <a:off x="1742539" y="2803585"/>
            <a:ext cx="621100" cy="258937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4EE5832E-E1FA-FB16-CEEC-81D1E3111DA0}"/>
              </a:ext>
            </a:extLst>
          </p:cNvPr>
          <p:cNvSpPr/>
          <p:nvPr/>
        </p:nvSpPr>
        <p:spPr>
          <a:xfrm>
            <a:off x="2363638" y="1700122"/>
            <a:ext cx="1500003" cy="971910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dirty="0"/>
              <a:t>Train Data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273A1351-AE8B-ACE4-52A3-846E545F52E3}"/>
              </a:ext>
            </a:extLst>
          </p:cNvPr>
          <p:cNvSpPr/>
          <p:nvPr/>
        </p:nvSpPr>
        <p:spPr>
          <a:xfrm>
            <a:off x="2363639" y="4907001"/>
            <a:ext cx="1513712" cy="971910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dirty="0"/>
              <a:t>Test Data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FB0659A-0CEE-0500-1EAB-84EAA5946B35}"/>
              </a:ext>
            </a:extLst>
          </p:cNvPr>
          <p:cNvSpPr txBox="1"/>
          <p:nvPr/>
        </p:nvSpPr>
        <p:spPr>
          <a:xfrm>
            <a:off x="1541250" y="1932313"/>
            <a:ext cx="6896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dirty="0"/>
              <a:t>80%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1C5D421-EA62-543D-7BA1-FABB8FD46060}"/>
              </a:ext>
            </a:extLst>
          </p:cNvPr>
          <p:cNvSpPr txBox="1"/>
          <p:nvPr/>
        </p:nvSpPr>
        <p:spPr>
          <a:xfrm>
            <a:off x="1541250" y="4522564"/>
            <a:ext cx="6832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dirty="0"/>
              <a:t>20%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85B830BF-0BA7-A542-589E-789789D7374B}"/>
              </a:ext>
            </a:extLst>
          </p:cNvPr>
          <p:cNvCxnSpPr>
            <a:cxnSpLocks/>
            <a:stCxn id="30" idx="3"/>
            <a:endCxn id="42" idx="1"/>
          </p:cNvCxnSpPr>
          <p:nvPr/>
        </p:nvCxnSpPr>
        <p:spPr>
          <a:xfrm>
            <a:off x="3863641" y="2186077"/>
            <a:ext cx="624494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5B408FA8-C2E8-3290-17FF-50258AB7F169}"/>
              </a:ext>
            </a:extLst>
          </p:cNvPr>
          <p:cNvSpPr/>
          <p:nvPr/>
        </p:nvSpPr>
        <p:spPr>
          <a:xfrm>
            <a:off x="4488135" y="1700122"/>
            <a:ext cx="1925069" cy="971910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dirty="0"/>
              <a:t>Train models with 5 Fold CV</a:t>
            </a:r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0D2013D7-CEDB-4D07-E94E-325DC3EC65C5}"/>
              </a:ext>
            </a:extLst>
          </p:cNvPr>
          <p:cNvSpPr/>
          <p:nvPr/>
        </p:nvSpPr>
        <p:spPr>
          <a:xfrm>
            <a:off x="7068245" y="1700122"/>
            <a:ext cx="2150853" cy="971910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dirty="0"/>
              <a:t>Tune Hyperparameters with 5 Fold CV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E1D2BDB0-DAE7-B216-27B0-C8A1A46DB8E0}"/>
              </a:ext>
            </a:extLst>
          </p:cNvPr>
          <p:cNvCxnSpPr>
            <a:cxnSpLocks/>
            <a:stCxn id="42" idx="3"/>
            <a:endCxn id="44" idx="1"/>
          </p:cNvCxnSpPr>
          <p:nvPr/>
        </p:nvCxnSpPr>
        <p:spPr>
          <a:xfrm>
            <a:off x="6413204" y="2186077"/>
            <a:ext cx="655041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13F475AC-BF8A-4ADE-17E8-2BF8F03EEAB6}"/>
              </a:ext>
            </a:extLst>
          </p:cNvPr>
          <p:cNvSpPr/>
          <p:nvPr/>
        </p:nvSpPr>
        <p:spPr>
          <a:xfrm>
            <a:off x="9874139" y="1700122"/>
            <a:ext cx="2150853" cy="971910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dirty="0"/>
              <a:t>Select Best Hyperparameters</a:t>
            </a:r>
          </a:p>
        </p:txBody>
      </p: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ACF3457B-4AD7-BC38-2CDD-2E84A963F096}"/>
              </a:ext>
            </a:extLst>
          </p:cNvPr>
          <p:cNvCxnSpPr>
            <a:cxnSpLocks/>
            <a:stCxn id="44" idx="3"/>
            <a:endCxn id="49" idx="1"/>
          </p:cNvCxnSpPr>
          <p:nvPr/>
        </p:nvCxnSpPr>
        <p:spPr>
          <a:xfrm>
            <a:off x="9219098" y="2186077"/>
            <a:ext cx="655041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457F963A-8A5F-E250-3965-9A5E361392AA}"/>
              </a:ext>
            </a:extLst>
          </p:cNvPr>
          <p:cNvSpPr/>
          <p:nvPr/>
        </p:nvSpPr>
        <p:spPr>
          <a:xfrm>
            <a:off x="10046666" y="3296009"/>
            <a:ext cx="1805797" cy="971910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/>
              <a:t>Retrain Best Model</a:t>
            </a:r>
            <a:endParaRPr lang="en-SG" dirty="0"/>
          </a:p>
        </p:txBody>
      </p:sp>
      <p:sp>
        <p:nvSpPr>
          <p:cNvPr id="62" name="Rectangle: Rounded Corners 61">
            <a:extLst>
              <a:ext uri="{FF2B5EF4-FFF2-40B4-BE49-F238E27FC236}">
                <a16:creationId xmlns:a16="http://schemas.microsoft.com/office/drawing/2014/main" id="{E44620C2-0902-FDC9-500D-AACF4EE5B9AF}"/>
              </a:ext>
            </a:extLst>
          </p:cNvPr>
          <p:cNvSpPr/>
          <p:nvPr/>
        </p:nvSpPr>
        <p:spPr>
          <a:xfrm>
            <a:off x="9874139" y="4891896"/>
            <a:ext cx="1805797" cy="971910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dirty="0"/>
              <a:t>Final Test Evaluation (once only)</a:t>
            </a:r>
          </a:p>
        </p:txBody>
      </p: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916ABFB4-7FB3-186A-9050-A05AD1EC0125}"/>
              </a:ext>
            </a:extLst>
          </p:cNvPr>
          <p:cNvCxnSpPr>
            <a:cxnSpLocks/>
            <a:stCxn id="49" idx="2"/>
            <a:endCxn id="59" idx="0"/>
          </p:cNvCxnSpPr>
          <p:nvPr/>
        </p:nvCxnSpPr>
        <p:spPr>
          <a:xfrm flipH="1">
            <a:off x="10949565" y="2672032"/>
            <a:ext cx="1" cy="62397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F55771AE-E55B-2FAB-553A-B9E4AAACA06B}"/>
              </a:ext>
            </a:extLst>
          </p:cNvPr>
          <p:cNvCxnSpPr>
            <a:stCxn id="59" idx="2"/>
            <a:endCxn id="62" idx="0"/>
          </p:cNvCxnSpPr>
          <p:nvPr/>
        </p:nvCxnSpPr>
        <p:spPr>
          <a:xfrm flipH="1">
            <a:off x="10777038" y="4267919"/>
            <a:ext cx="172527" cy="62397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8CA61F17-F65C-0297-9FFF-806F27532184}"/>
              </a:ext>
            </a:extLst>
          </p:cNvPr>
          <p:cNvCxnSpPr>
            <a:cxnSpLocks/>
            <a:stCxn id="32" idx="3"/>
            <a:endCxn id="62" idx="1"/>
          </p:cNvCxnSpPr>
          <p:nvPr/>
        </p:nvCxnSpPr>
        <p:spPr>
          <a:xfrm flipV="1">
            <a:off x="3877351" y="5377851"/>
            <a:ext cx="5996788" cy="1510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803737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20459E-6A37-212F-5BE4-949C0FC36F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Data Cleaning &amp; Preprocessing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DDA2E3-0D19-13ED-BCDE-0B16566251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algn="ctr"/>
            <a:r>
              <a:rPr lang="en-SG" sz="2000" b="1" u="sng" dirty="0"/>
              <a:t>Missing Value Imputation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479F756-23DF-5A8D-4B5A-254E9132026E}"/>
              </a:ext>
            </a:extLst>
          </p:cNvPr>
          <p:cNvSpPr>
            <a:spLocks noGrp="1"/>
          </p:cNvSpPr>
          <p:nvPr>
            <p:ph sz="quarter" idx="17"/>
          </p:nvPr>
        </p:nvSpPr>
        <p:spPr/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SG" sz="1600" dirty="0"/>
              <a:t>Imputation statistics were calculated from the training data only to prevent data leakage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SG" sz="1600" dirty="0"/>
              <a:t>The same values were then applied to both training and test data.</a:t>
            </a:r>
          </a:p>
          <a:p>
            <a:pPr marL="514350" lvl="1" indent="-285750">
              <a:buFont typeface="Wingdings" panose="05000000000000000000" pitchFamily="2" charset="2"/>
              <a:buChar char="Ø"/>
            </a:pPr>
            <a:r>
              <a:rPr lang="en-SG" sz="1600" dirty="0" err="1"/>
              <a:t>LotFrontage</a:t>
            </a:r>
            <a:r>
              <a:rPr lang="en-SG" sz="1600" dirty="0"/>
              <a:t>: Neighbourhood median; overall median as fallback (Properties within the same neighbourhood have similar lot configurations</a:t>
            </a:r>
          </a:p>
          <a:p>
            <a:pPr marL="514350" lvl="1" indent="-285750">
              <a:buFont typeface="Wingdings" panose="05000000000000000000" pitchFamily="2" charset="2"/>
              <a:buChar char="Ø"/>
            </a:pPr>
            <a:r>
              <a:rPr lang="en-SG" sz="1600" dirty="0" err="1"/>
              <a:t>MasVnrArea</a:t>
            </a:r>
            <a:r>
              <a:rPr lang="en-SG" sz="1600" dirty="0"/>
              <a:t>: Overall Median</a:t>
            </a:r>
          </a:p>
          <a:p>
            <a:pPr marL="514350" lvl="1" indent="-285750">
              <a:buFont typeface="Wingdings" panose="05000000000000000000" pitchFamily="2" charset="2"/>
              <a:buChar char="Ø"/>
            </a:pPr>
            <a:r>
              <a:rPr lang="en-SG" sz="1600" dirty="0"/>
              <a:t>Electrical: Mode (most frequent category)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416D8B9-58DF-BE60-6A88-B2858FB7D5F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>
            <a:normAutofit/>
          </a:bodyPr>
          <a:lstStyle/>
          <a:p>
            <a:pPr algn="ctr"/>
            <a:r>
              <a:rPr lang="en-SG" sz="2000" b="1" u="sng" dirty="0"/>
              <a:t>Categorical Encoding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655E52E-570F-A370-4F5D-CD57BC8422E0}"/>
              </a:ext>
            </a:extLst>
          </p:cNvPr>
          <p:cNvSpPr>
            <a:spLocks noGrp="1"/>
          </p:cNvSpPr>
          <p:nvPr>
            <p:ph sz="quarter" idx="18"/>
          </p:nvPr>
        </p:nvSpPr>
        <p:spPr/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SG" sz="1600" dirty="0"/>
              <a:t>One-hot encoding: All nominal variables except Exterior1st, Exterior2nd, and Neighborhood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SG" sz="1600" dirty="0"/>
              <a:t>Target encoding: Exterior1st, Exterior2nd, and Neighborhood due to their high cardinality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SG" sz="1600" dirty="0" err="1"/>
              <a:t>Out-of</a:t>
            </a:r>
            <a:r>
              <a:rPr lang="en-SG" sz="1600" dirty="0"/>
              <a:t>	-Fold (OOF) encoding: K-fold target encoding was used to prevent target leakage by ensuring each training observation was encoded without using its own target value.</a:t>
            </a:r>
          </a:p>
        </p:txBody>
      </p:sp>
    </p:spTree>
    <p:extLst>
      <p:ext uri="{BB962C8B-B14F-4D97-AF65-F5344CB8AC3E}">
        <p14:creationId xmlns:p14="http://schemas.microsoft.com/office/powerpoint/2010/main" val="23645259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E6E7E8-535A-5EBB-173E-F515B282A8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064" y="987552"/>
            <a:ext cx="3465576" cy="2944368"/>
          </a:xfrm>
        </p:spPr>
        <p:txBody>
          <a:bodyPr anchor="t">
            <a:normAutofit/>
          </a:bodyPr>
          <a:lstStyle/>
          <a:p>
            <a:r>
              <a:rPr lang="en-SG" dirty="0"/>
              <a:t>Model Training</a:t>
            </a:r>
          </a:p>
        </p:txBody>
      </p:sp>
      <p:pic>
        <p:nvPicPr>
          <p:cNvPr id="10" name="Picture Placeholder 9">
            <a:extLst>
              <a:ext uri="{FF2B5EF4-FFF2-40B4-BE49-F238E27FC236}">
                <a16:creationId xmlns:a16="http://schemas.microsoft.com/office/drawing/2014/main" id="{799D63F4-C467-D3F4-FB24-820F8711AE83}"/>
              </a:ext>
            </a:extLst>
          </p:cNvPr>
          <p:cNvPicPr>
            <a:picLocks noGrp="1" noChangeAspect="1"/>
          </p:cNvPicPr>
          <p:nvPr>
            <p:ph sz="quarter" idx="17"/>
          </p:nvPr>
        </p:nvPicPr>
        <p:blipFill>
          <a:blip r:embed="rId2"/>
          <a:srcRect t="1914" b="1914"/>
          <a:stretch>
            <a:fillRect/>
          </a:stretch>
        </p:blipFill>
        <p:spPr>
          <a:xfrm>
            <a:off x="4315966" y="987552"/>
            <a:ext cx="7446825" cy="2560320"/>
          </a:xfrm>
          <a:prstGeom prst="rect">
            <a:avLst/>
          </a:prstGeom>
          <a:noFill/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CF7B9FC6-6DBF-6375-C6E9-2F5544D6E129}"/>
                  </a:ext>
                </a:extLst>
              </p:cNvPr>
              <p:cNvSpPr>
                <a:spLocks noGrp="1"/>
              </p:cNvSpPr>
              <p:nvPr>
                <p:ph sz="quarter" idx="18"/>
              </p:nvPr>
            </p:nvSpPr>
            <p:spPr>
              <a:xfrm>
                <a:off x="4315967" y="3931919"/>
                <a:ext cx="7446824" cy="2684417"/>
              </a:xfrm>
            </p:spPr>
            <p:txBody>
              <a:bodyPr>
                <a:normAutofit/>
              </a:bodyPr>
              <a:lstStyle/>
              <a:p>
                <a:pPr algn="ctr"/>
                <a:r>
                  <a:rPr lang="en-SG" sz="2400" b="1" dirty="0"/>
                  <a:t>Best model before tuning: </a:t>
                </a:r>
              </a:p>
              <a:p>
                <a:r>
                  <a:rPr lang="en-SG" sz="2400" b="1" dirty="0" err="1"/>
                  <a:t>CatBoost</a:t>
                </a:r>
                <a:r>
                  <a:rPr lang="en-SG" sz="2400" b="1" dirty="0"/>
                  <a:t> with RMSE of </a:t>
                </a:r>
                <a14:m>
                  <m:oMath xmlns:m="http://schemas.openxmlformats.org/officeDocument/2006/math">
                    <m:r>
                      <a:rPr lang="en-SG" sz="2400" b="1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𝟎</m:t>
                    </m:r>
                    <m:r>
                      <a:rPr lang="en-SG" sz="2400" b="1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r>
                      <a:rPr lang="en-SG" sz="2400" b="1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𝟏𝟏𝟓𝟖</m:t>
                    </m:r>
                    <m:r>
                      <a:rPr lang="en-SG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±</m:t>
                    </m:r>
                    <m:r>
                      <a:rPr lang="en-SG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𝟎</m:t>
                    </m:r>
                    <m:r>
                      <a:rPr lang="en-SG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r>
                      <a:rPr lang="en-SG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𝟏𝟎𝟐</m:t>
                    </m:r>
                  </m:oMath>
                </a14:m>
                <a:r>
                  <a:rPr lang="en-SG" sz="2400" b="1" dirty="0"/>
                  <a:t>. </a:t>
                </a:r>
              </a:p>
              <a:p>
                <a:endParaRPr lang="en-SG" sz="1600" dirty="0"/>
              </a:p>
              <a:p>
                <a:r>
                  <a:rPr lang="en-SG" sz="1600" dirty="0"/>
                  <a:t>5 Fold cross validation showed that all models outperformed the baseline. </a:t>
                </a:r>
              </a:p>
              <a:p>
                <a:endParaRPr lang="en-SG" sz="1600" dirty="0"/>
              </a:p>
              <a:p>
                <a:r>
                  <a:rPr lang="en-SG" sz="1600" dirty="0"/>
                  <a:t>Residual plots showed that ridge captured linear trends, while decision tree, </a:t>
                </a:r>
                <a:r>
                  <a:rPr lang="en-SG" sz="1600" dirty="0" err="1"/>
                  <a:t>XGBoost</a:t>
                </a:r>
                <a:r>
                  <a:rPr lang="en-SG" sz="1600" dirty="0"/>
                  <a:t>, and </a:t>
                </a:r>
                <a:r>
                  <a:rPr lang="en-SG" sz="1600" dirty="0" err="1"/>
                  <a:t>CatBoost</a:t>
                </a:r>
                <a:r>
                  <a:rPr lang="en-SG" sz="1600" dirty="0"/>
                  <a:t> captured nonlinearity more effectively. However, it also showed that all models generally had difficulty predicting more expensive houses</a:t>
                </a:r>
              </a:p>
            </p:txBody>
          </p:sp>
        </mc:Choice>
        <mc:Fallback xmlns="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CF7B9FC6-6DBF-6375-C6E9-2F5544D6E12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8"/>
              </p:nvPr>
            </p:nvSpPr>
            <p:spPr>
              <a:xfrm>
                <a:off x="4315967" y="3931919"/>
                <a:ext cx="7446824" cy="2684417"/>
              </a:xfrm>
              <a:blipFill>
                <a:blip r:embed="rId3"/>
                <a:stretch>
                  <a:fillRect l="-1227" t="-4545" b="-2727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FD9BDCC0-9A11-5A60-A7DA-729537A87CAD}"/>
              </a:ext>
            </a:extLst>
          </p:cNvPr>
          <p:cNvSpPr txBox="1"/>
          <p:nvPr/>
        </p:nvSpPr>
        <p:spPr>
          <a:xfrm>
            <a:off x="429209" y="2505512"/>
            <a:ext cx="3306792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3000" dirty="0"/>
              <a:t>Decision Tree</a:t>
            </a:r>
          </a:p>
          <a:p>
            <a:r>
              <a:rPr lang="en-SG" sz="3000" dirty="0"/>
              <a:t>Ridge regression</a:t>
            </a:r>
          </a:p>
          <a:p>
            <a:r>
              <a:rPr lang="en-SG" sz="3000" dirty="0" err="1"/>
              <a:t>XGBoost</a:t>
            </a:r>
            <a:endParaRPr lang="en-SG" sz="3000" dirty="0"/>
          </a:p>
          <a:p>
            <a:r>
              <a:rPr lang="en-SG" sz="3000" dirty="0" err="1"/>
              <a:t>CatBoost</a:t>
            </a:r>
            <a:endParaRPr lang="en-SG" sz="3000" dirty="0"/>
          </a:p>
        </p:txBody>
      </p:sp>
    </p:spTree>
    <p:extLst>
      <p:ext uri="{BB962C8B-B14F-4D97-AF65-F5344CB8AC3E}">
        <p14:creationId xmlns:p14="http://schemas.microsoft.com/office/powerpoint/2010/main" val="29690229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0FFCC5-6F39-3CD0-B327-556423EC67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573" y="375651"/>
            <a:ext cx="11113008" cy="849793"/>
          </a:xfrm>
        </p:spPr>
        <p:txBody>
          <a:bodyPr/>
          <a:lstStyle/>
          <a:p>
            <a:r>
              <a:rPr lang="en-SG" dirty="0"/>
              <a:t>Hyperparameter Tuning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CE101CEF-C029-4E6B-562A-0CBBC5BD631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25282589"/>
                  </p:ext>
                </p:extLst>
              </p:nvPr>
            </p:nvGraphicFramePr>
            <p:xfrm>
              <a:off x="577012" y="2037463"/>
              <a:ext cx="8128000" cy="14833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64000">
                      <a:extLst>
                        <a:ext uri="{9D8B030D-6E8A-4147-A177-3AD203B41FA5}">
                          <a16:colId xmlns:a16="http://schemas.microsoft.com/office/drawing/2014/main" val="1081880687"/>
                        </a:ext>
                      </a:extLst>
                    </a:gridCol>
                    <a:gridCol w="4064000">
                      <a:extLst>
                        <a:ext uri="{9D8B030D-6E8A-4147-A177-3AD203B41FA5}">
                          <a16:colId xmlns:a16="http://schemas.microsoft.com/office/drawing/2014/main" val="70250990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SG" dirty="0"/>
                            <a:t>Model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SG" dirty="0"/>
                            <a:t>Tuning Method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8685602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SG" dirty="0"/>
                            <a:t>Ridge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SG" dirty="0"/>
                            <a:t>RidgeCV </a:t>
                          </a:r>
                          <a:r>
                            <a:rPr lang="en-SG" dirty="0">
                              <a:sym typeface="Wingdings" panose="05000000000000000000" pitchFamily="2" charset="2"/>
                            </a:rPr>
                            <a:t> optimised alpha, </a:t>
                          </a:r>
                          <a14:m>
                            <m:oMath xmlns:m="http://schemas.openxmlformats.org/officeDocument/2006/math">
                              <m:r>
                                <a:rPr lang="en-SG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𝛼</m:t>
                              </m:r>
                            </m:oMath>
                          </a14:m>
                          <a:endParaRPr lang="en-SG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5926380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SG" dirty="0" err="1"/>
                            <a:t>XGBoost</a:t>
                          </a:r>
                          <a:endParaRPr lang="en-SG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SG" dirty="0"/>
                            <a:t>Random Search + Early Stopping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6075868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SG" dirty="0" err="1"/>
                            <a:t>CatBoost</a:t>
                          </a:r>
                          <a:endParaRPr lang="en-SG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SG" dirty="0"/>
                            <a:t>Random Search + Early Stopping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7048952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CE101CEF-C029-4E6B-562A-0CBBC5BD631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25282589"/>
                  </p:ext>
                </p:extLst>
              </p:nvPr>
            </p:nvGraphicFramePr>
            <p:xfrm>
              <a:off x="577012" y="2037463"/>
              <a:ext cx="8128000" cy="14833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64000">
                      <a:extLst>
                        <a:ext uri="{9D8B030D-6E8A-4147-A177-3AD203B41FA5}">
                          <a16:colId xmlns:a16="http://schemas.microsoft.com/office/drawing/2014/main" val="1081880687"/>
                        </a:ext>
                      </a:extLst>
                    </a:gridCol>
                    <a:gridCol w="4064000">
                      <a:extLst>
                        <a:ext uri="{9D8B030D-6E8A-4147-A177-3AD203B41FA5}">
                          <a16:colId xmlns:a16="http://schemas.microsoft.com/office/drawing/2014/main" val="70250990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SG" dirty="0"/>
                            <a:t>Model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SG" dirty="0"/>
                            <a:t>Tuning Method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8685602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SG" dirty="0"/>
                            <a:t>Ridge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0150" t="-106557" r="-750" b="-2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5926380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SG" dirty="0" err="1"/>
                            <a:t>XGBoost</a:t>
                          </a:r>
                          <a:endParaRPr lang="en-SG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SG" dirty="0"/>
                            <a:t>Random Search + Early Stopping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6075868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SG" dirty="0" err="1"/>
                            <a:t>CatBoost</a:t>
                          </a:r>
                          <a:endParaRPr lang="en-SG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SG" dirty="0"/>
                            <a:t>Random Search + Early Stopping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70489523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70657C46-3F80-AFE6-0527-B09353361A15}"/>
              </a:ext>
            </a:extLst>
          </p:cNvPr>
          <p:cNvSpPr txBox="1"/>
          <p:nvPr/>
        </p:nvSpPr>
        <p:spPr>
          <a:xfrm>
            <a:off x="528883" y="3488914"/>
            <a:ext cx="75912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400" dirty="0"/>
              <a:t>Note: 5 Fold CV was used to evaluate configurations. 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83B3B89-EB23-6C96-77EE-662CC29A20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249" y="4518144"/>
            <a:ext cx="4890835" cy="200802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543EF2E-B9E7-A0C4-DCBD-E989FA027E16}"/>
              </a:ext>
            </a:extLst>
          </p:cNvPr>
          <p:cNvSpPr txBox="1"/>
          <p:nvPr/>
        </p:nvSpPr>
        <p:spPr>
          <a:xfrm>
            <a:off x="448573" y="4042913"/>
            <a:ext cx="325121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2000" b="1" dirty="0"/>
              <a:t>MODEL PERFORMANCE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99B3B08-8D0F-11CB-C95C-76110680B564}"/>
              </a:ext>
            </a:extLst>
          </p:cNvPr>
          <p:cNvSpPr txBox="1"/>
          <p:nvPr/>
        </p:nvSpPr>
        <p:spPr>
          <a:xfrm>
            <a:off x="6321246" y="4332842"/>
            <a:ext cx="4767532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4400" b="1" dirty="0"/>
              <a:t>WINNER:</a:t>
            </a:r>
          </a:p>
          <a:p>
            <a:r>
              <a:rPr lang="en-SG" sz="4400" dirty="0" err="1"/>
              <a:t>CatBoost</a:t>
            </a:r>
            <a:endParaRPr lang="en-SG" sz="44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D9291F5-90CB-D593-BBF6-C9B41A24A3DE}"/>
              </a:ext>
            </a:extLst>
          </p:cNvPr>
          <p:cNvSpPr txBox="1"/>
          <p:nvPr/>
        </p:nvSpPr>
        <p:spPr>
          <a:xfrm>
            <a:off x="528883" y="1515373"/>
            <a:ext cx="27703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2000" b="1" dirty="0"/>
              <a:t>TUNING APPROACH</a:t>
            </a:r>
          </a:p>
        </p:txBody>
      </p:sp>
    </p:spTree>
    <p:extLst>
      <p:ext uri="{BB962C8B-B14F-4D97-AF65-F5344CB8AC3E}">
        <p14:creationId xmlns:p14="http://schemas.microsoft.com/office/powerpoint/2010/main" val="26897920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35FA7B-E2FC-146A-337B-AEB35F9210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dirty="0"/>
              <a:t>Final Model Performance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AC1AF3-1CF9-4CCD-8873-08742F809B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ctr"/>
            <a:r>
              <a:rPr lang="en-SG" sz="3000" b="1" u="sng" dirty="0"/>
              <a:t>Tuned </a:t>
            </a:r>
            <a:r>
              <a:rPr lang="en-SG" sz="3000" b="1" u="sng" dirty="0" err="1"/>
              <a:t>CatBoost</a:t>
            </a:r>
            <a:endParaRPr lang="en-SG" sz="3000" b="1" u="sng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5D1BFEF-F3E4-6798-26D8-6F92DE0707BE}"/>
              </a:ext>
            </a:extLst>
          </p:cNvPr>
          <p:cNvSpPr/>
          <p:nvPr/>
        </p:nvSpPr>
        <p:spPr>
          <a:xfrm>
            <a:off x="1725283" y="2840966"/>
            <a:ext cx="3341298" cy="1633268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sz="3600" dirty="0"/>
              <a:t>RMSE</a:t>
            </a:r>
          </a:p>
          <a:p>
            <a:pPr algn="ctr"/>
            <a:r>
              <a:rPr lang="en-SG" sz="3600" dirty="0"/>
              <a:t>$19558.28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CA45FB8-875C-950C-F34D-601D998D6A8A}"/>
              </a:ext>
            </a:extLst>
          </p:cNvPr>
          <p:cNvSpPr/>
          <p:nvPr/>
        </p:nvSpPr>
        <p:spPr>
          <a:xfrm>
            <a:off x="6863750" y="2840966"/>
            <a:ext cx="3341298" cy="1633268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sz="3600" dirty="0"/>
              <a:t>MAE</a:t>
            </a:r>
          </a:p>
          <a:p>
            <a:pPr algn="ctr"/>
            <a:r>
              <a:rPr lang="en-SG" sz="3600" dirty="0"/>
              <a:t>$13578.08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A1F10662-40BF-15C1-842A-12279D1F417F}"/>
                  </a:ext>
                </a:extLst>
              </p:cNvPr>
              <p:cNvSpPr/>
              <p:nvPr/>
            </p:nvSpPr>
            <p:spPr>
              <a:xfrm>
                <a:off x="1725283" y="4825041"/>
                <a:ext cx="3341298" cy="1633268"/>
              </a:xfrm>
              <a:prstGeom prst="rect">
                <a:avLst/>
              </a:prstGeom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SG" sz="3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SG" sz="36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n-SG" sz="3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SG" sz="3600" dirty="0"/>
              </a:p>
              <a:p>
                <a:pPr algn="ctr"/>
                <a:r>
                  <a:rPr lang="en-SG" sz="3600" dirty="0"/>
                  <a:t>91.0%</a:t>
                </a:r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A1F10662-40BF-15C1-842A-12279D1F417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5283" y="4825041"/>
                <a:ext cx="3341298" cy="1633268"/>
              </a:xfrm>
              <a:prstGeom prst="rect">
                <a:avLst/>
              </a:prstGeom>
              <a:blipFill>
                <a:blip r:embed="rId2"/>
                <a:stretch>
                  <a:fillRect b="-372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tangle 9">
            <a:extLst>
              <a:ext uri="{FF2B5EF4-FFF2-40B4-BE49-F238E27FC236}">
                <a16:creationId xmlns:a16="http://schemas.microsoft.com/office/drawing/2014/main" id="{DE2BBFFE-1DF9-83DE-9185-7C7C3842B10F}"/>
              </a:ext>
            </a:extLst>
          </p:cNvPr>
          <p:cNvSpPr/>
          <p:nvPr/>
        </p:nvSpPr>
        <p:spPr>
          <a:xfrm>
            <a:off x="6863750" y="4825041"/>
            <a:ext cx="3341298" cy="1633268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sz="3600" dirty="0"/>
              <a:t>RMSE (log)</a:t>
            </a:r>
          </a:p>
          <a:p>
            <a:pPr algn="ctr"/>
            <a:r>
              <a:rPr lang="en-SG" sz="3600" dirty="0"/>
              <a:t>0.1194</a:t>
            </a:r>
          </a:p>
        </p:txBody>
      </p:sp>
    </p:spTree>
    <p:extLst>
      <p:ext uri="{BB962C8B-B14F-4D97-AF65-F5344CB8AC3E}">
        <p14:creationId xmlns:p14="http://schemas.microsoft.com/office/powerpoint/2010/main" val="19919174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B03DB1-7356-9CDE-D40A-077CF0FEB2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Tools Used &amp; Reflection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A075BA-C186-AC28-326B-CAD4BC405F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2064" y="1452277"/>
            <a:ext cx="5184648" cy="534033"/>
          </a:xfrm>
        </p:spPr>
        <p:txBody>
          <a:bodyPr>
            <a:normAutofit/>
          </a:bodyPr>
          <a:lstStyle/>
          <a:p>
            <a:pPr algn="ctr"/>
            <a:r>
              <a:rPr lang="en-SG" sz="2000" dirty="0"/>
              <a:t>Tools &amp; Techniques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5A35FF00-8FB4-EE9F-1528-ED4C7B135176}"/>
                  </a:ext>
                </a:extLst>
              </p:cNvPr>
              <p:cNvSpPr>
                <a:spLocks noGrp="1"/>
              </p:cNvSpPr>
              <p:nvPr>
                <p:ph sz="quarter" idx="17"/>
              </p:nvPr>
            </p:nvSpPr>
            <p:spPr>
              <a:xfrm>
                <a:off x="513524" y="1919209"/>
                <a:ext cx="5183188" cy="4625282"/>
              </a:xfrm>
            </p:spPr>
            <p:txBody>
              <a:bodyPr>
                <a:normAutofit lnSpcReduction="10000"/>
              </a:bodyPr>
              <a:lstStyle/>
              <a:p>
                <a:pPr marL="285750" indent="-285750">
                  <a:buFont typeface="Courier New" panose="02070309020205020404" pitchFamily="49" charset="0"/>
                  <a:buChar char="o"/>
                </a:pPr>
                <a:r>
                  <a:rPr lang="en-SG" dirty="0"/>
                  <a:t>Python / Data Analysis</a:t>
                </a:r>
              </a:p>
              <a:p>
                <a:pPr marL="514350" lvl="1" indent="-285750">
                  <a:buFont typeface="Arial" panose="020B0604020202020204" pitchFamily="34" charset="0"/>
                  <a:buChar char="•"/>
                </a:pPr>
                <a:r>
                  <a:rPr lang="en-SG" dirty="0"/>
                  <a:t>Pandas &amp; NumPy: data cleaning, data analysis</a:t>
                </a:r>
              </a:p>
              <a:p>
                <a:pPr marL="514350" lvl="1" indent="-285750">
                  <a:buFont typeface="Arial" panose="020B0604020202020204" pitchFamily="34" charset="0"/>
                  <a:buChar char="•"/>
                </a:pPr>
                <a:r>
                  <a:rPr lang="en-SG" dirty="0"/>
                  <a:t>Matplotlib &amp; Seaborn: exploratory visualisation</a:t>
                </a:r>
              </a:p>
              <a:p>
                <a:pPr marL="285750" indent="-285750">
                  <a:buFont typeface="Courier New" panose="02070309020205020404" pitchFamily="49" charset="0"/>
                  <a:buChar char="o"/>
                </a:pPr>
                <a:r>
                  <a:rPr lang="en-SG" dirty="0"/>
                  <a:t>Machine Learning</a:t>
                </a:r>
              </a:p>
              <a:p>
                <a:pPr marL="571500" lvl="1" indent="-342900">
                  <a:buFont typeface="Arial" panose="020B0604020202020204" pitchFamily="34" charset="0"/>
                  <a:buChar char="•"/>
                </a:pPr>
                <a:r>
                  <a:rPr lang="en-SG" dirty="0"/>
                  <a:t>Scikit-learn: train/test split, cross validation &amp; pipelines</a:t>
                </a:r>
              </a:p>
              <a:p>
                <a:pPr marL="571500" lvl="1" indent="-342900">
                  <a:buFont typeface="Arial" panose="020B0604020202020204" pitchFamily="34" charset="0"/>
                  <a:buChar char="•"/>
                </a:pPr>
                <a:r>
                  <a:rPr lang="en-SG" dirty="0"/>
                  <a:t>Ridge regression</a:t>
                </a:r>
              </a:p>
              <a:p>
                <a:pPr marL="571500" lvl="1" indent="-342900">
                  <a:buFont typeface="Arial" panose="020B0604020202020204" pitchFamily="34" charset="0"/>
                  <a:buChar char="•"/>
                </a:pPr>
                <a:r>
                  <a:rPr lang="en-SG" dirty="0" err="1"/>
                  <a:t>XGBoost</a:t>
                </a:r>
                <a:r>
                  <a:rPr lang="en-SG" dirty="0"/>
                  <a:t> &amp; </a:t>
                </a:r>
                <a:r>
                  <a:rPr lang="en-SG" dirty="0" err="1"/>
                  <a:t>CatBoost</a:t>
                </a:r>
                <a:endParaRPr lang="en-SG" dirty="0"/>
              </a:p>
              <a:p>
                <a:pPr marL="571500" lvl="1" indent="-342900">
                  <a:buFont typeface="Arial" panose="020B0604020202020204" pitchFamily="34" charset="0"/>
                  <a:buChar char="•"/>
                </a:pPr>
                <a:r>
                  <a:rPr lang="en-SG" dirty="0"/>
                  <a:t>Model evaluation: RMSE, MAE,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SG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SG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SG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SG" dirty="0"/>
              </a:p>
              <a:p>
                <a:pPr marL="285750" indent="-285750">
                  <a:buFont typeface="Courier New" panose="02070309020205020404" pitchFamily="49" charset="0"/>
                  <a:buChar char="o"/>
                </a:pPr>
                <a:r>
                  <a:rPr lang="en-SG" dirty="0"/>
                  <a:t>Tableau</a:t>
                </a:r>
              </a:p>
              <a:p>
                <a:pPr marL="514350" lvl="1" indent="-285750">
                  <a:buFont typeface="Arial" panose="020B0604020202020204" pitchFamily="34" charset="0"/>
                  <a:buChar char="•"/>
                </a:pPr>
                <a:r>
                  <a:rPr lang="en-SG" dirty="0"/>
                  <a:t>Dashboard design &amp; storytelling</a:t>
                </a:r>
              </a:p>
              <a:p>
                <a:pPr marL="514350" lvl="1" indent="-285750">
                  <a:buFont typeface="Arial" panose="020B0604020202020204" pitchFamily="34" charset="0"/>
                  <a:buChar char="•"/>
                </a:pPr>
                <a:r>
                  <a:rPr lang="en-SG" dirty="0"/>
                  <a:t>KPIs</a:t>
                </a:r>
              </a:p>
              <a:p>
                <a:pPr marL="514350" lvl="1" indent="-285750">
                  <a:buFont typeface="Arial" panose="020B0604020202020204" pitchFamily="34" charset="0"/>
                  <a:buChar char="•"/>
                </a:pPr>
                <a:r>
                  <a:rPr lang="en-SG" dirty="0"/>
                  <a:t>Calculated fields</a:t>
                </a:r>
              </a:p>
              <a:p>
                <a:pPr marL="514350" lvl="1" indent="-285750">
                  <a:buFont typeface="Arial" panose="020B0604020202020204" pitchFamily="34" charset="0"/>
                  <a:buChar char="•"/>
                </a:pPr>
                <a:r>
                  <a:rPr lang="en-SG" dirty="0"/>
                  <a:t>Grouping</a:t>
                </a:r>
              </a:p>
              <a:p>
                <a:pPr marL="514350" lvl="1" indent="-285750">
                  <a:buFont typeface="Arial" panose="020B0604020202020204" pitchFamily="34" charset="0"/>
                  <a:buChar char="•"/>
                </a:pPr>
                <a:r>
                  <a:rPr lang="en-SG" dirty="0"/>
                  <a:t>Interactive filters</a:t>
                </a:r>
              </a:p>
              <a:p>
                <a:pPr marL="285750" indent="-285750">
                  <a:buFont typeface="Courier New" panose="02070309020205020404" pitchFamily="49" charset="0"/>
                  <a:buChar char="o"/>
                </a:pPr>
                <a:r>
                  <a:rPr lang="en-SG" dirty="0"/>
                  <a:t>PowerPoint</a:t>
                </a:r>
              </a:p>
              <a:p>
                <a:pPr marL="514350" lvl="1" indent="-285750">
                  <a:buFont typeface="Arial" panose="020B0604020202020204" pitchFamily="34" charset="0"/>
                  <a:buChar char="•"/>
                </a:pPr>
                <a:r>
                  <a:rPr lang="en-SG" dirty="0"/>
                  <a:t>Insight presentation</a:t>
                </a:r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5A35FF00-8FB4-EE9F-1528-ED4C7B13517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7"/>
              </p:nvPr>
            </p:nvSpPr>
            <p:spPr>
              <a:xfrm>
                <a:off x="513524" y="1919209"/>
                <a:ext cx="5183188" cy="4625282"/>
              </a:xfrm>
              <a:blipFill>
                <a:blip r:embed="rId2"/>
                <a:stretch>
                  <a:fillRect l="-235" t="-1581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71B6BC7-58C3-4C44-317C-DF267E3BDDD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90488" y="1452277"/>
            <a:ext cx="5183188" cy="534033"/>
          </a:xfrm>
        </p:spPr>
        <p:txBody>
          <a:bodyPr>
            <a:normAutofit/>
          </a:bodyPr>
          <a:lstStyle/>
          <a:p>
            <a:pPr algn="ctr"/>
            <a:r>
              <a:rPr lang="en-SG" sz="2000" dirty="0"/>
              <a:t>Reflection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D09F296E-A48F-DBA9-40EE-4BE94B94C791}"/>
                  </a:ext>
                </a:extLst>
              </p:cNvPr>
              <p:cNvSpPr>
                <a:spLocks noGrp="1"/>
              </p:cNvSpPr>
              <p:nvPr>
                <p:ph sz="quarter" idx="18"/>
              </p:nvPr>
            </p:nvSpPr>
            <p:spPr>
              <a:xfrm>
                <a:off x="6190488" y="1919209"/>
                <a:ext cx="5183188" cy="4475060"/>
              </a:xfrm>
            </p:spPr>
            <p:txBody>
              <a:bodyPr>
                <a:normAutofit/>
              </a:bodyPr>
              <a:lstStyle/>
              <a:p>
                <a:r>
                  <a:rPr lang="en-SG" dirty="0"/>
                  <a:t>What I have learnt:</a:t>
                </a:r>
              </a:p>
              <a:p>
                <a:pPr marL="342900" indent="-342900">
                  <a:buFont typeface="+mj-lt"/>
                  <a:buAutoNum type="arabicParenR"/>
                </a:pPr>
                <a:r>
                  <a:rPr lang="en-SG" dirty="0"/>
                  <a:t>Good data visualisation is not about adding complexity; it is about what’s necessary to communicate the insight. I applied this in my boxplot, which uses only two variables yet effectively communicates the relationship between quality and sale price. A dashboard doesn’t need to be complex to tell a compelling story.</a:t>
                </a:r>
              </a:p>
              <a:p>
                <a:pPr marL="342900" indent="-342900">
                  <a:buFont typeface="+mj-lt"/>
                  <a:buAutoNum type="arabicParenR"/>
                </a:pPr>
                <a:r>
                  <a:rPr lang="en-SG" dirty="0"/>
                  <a:t>Model evaluation is more than just performance scores alone; residual plots revealed weaker performance on expensive homes that RMSE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SG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SG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SG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SG" dirty="0"/>
                  <a:t> alone did not show.</a:t>
                </a:r>
              </a:p>
              <a:p>
                <a:r>
                  <a:rPr lang="en-SG" dirty="0"/>
                  <a:t>What I would improve:</a:t>
                </a:r>
              </a:p>
              <a:p>
                <a:pPr marL="342900" indent="-342900">
                  <a:buFont typeface="+mj-lt"/>
                  <a:buAutoNum type="arabicParenR"/>
                </a:pPr>
                <a:r>
                  <a:rPr lang="en-SG" dirty="0"/>
                  <a:t>Include external factors not in this dataset (e.g.: proximity to different amenities) which likely would also influence price</a:t>
                </a:r>
              </a:p>
              <a:p>
                <a:pPr marL="342900" indent="-342900">
                  <a:buFont typeface="+mj-lt"/>
                  <a:buAutoNum type="arabicParenR"/>
                </a:pPr>
                <a:r>
                  <a:rPr lang="en-SG" dirty="0"/>
                  <a:t>Include a more exhaustive hyperparameter search (e.g. Bayesian hyperparameter tuning with </a:t>
                </a:r>
                <a:r>
                  <a:rPr lang="en-SG" dirty="0" err="1"/>
                  <a:t>Optuna</a:t>
                </a:r>
                <a:r>
                  <a:rPr lang="en-SG" dirty="0"/>
                  <a:t>) to further improve performance</a:t>
                </a:r>
              </a:p>
              <a:p>
                <a:pPr marL="342900" indent="-342900">
                  <a:buFont typeface="+mj-lt"/>
                  <a:buAutoNum type="arabicParenR"/>
                </a:pPr>
                <a:r>
                  <a:rPr lang="en-SG" dirty="0"/>
                  <a:t>Use a weighted loss to address weaker performance on expensive houses</a:t>
                </a:r>
              </a:p>
            </p:txBody>
          </p:sp>
        </mc:Choice>
        <mc:Fallback xmlns="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D09F296E-A48F-DBA9-40EE-4BE94B94C79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8"/>
              </p:nvPr>
            </p:nvSpPr>
            <p:spPr>
              <a:xfrm>
                <a:off x="6190488" y="1919209"/>
                <a:ext cx="5183188" cy="4475060"/>
              </a:xfrm>
              <a:blipFill>
                <a:blip r:embed="rId3"/>
                <a:stretch>
                  <a:fillRect l="-353" t="-1226" r="-588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18247515"/>
      </p:ext>
    </p:extLst>
  </p:cSld>
  <p:clrMapOvr>
    <a:masterClrMapping/>
  </p:clrMapOvr>
</p:sld>
</file>

<file path=ppt/theme/theme1.xml><?xml version="1.0" encoding="utf-8"?>
<a:theme xmlns:a="http://schemas.openxmlformats.org/drawingml/2006/main" name="Axis">
  <a:themeElements>
    <a:clrScheme name="Southwestern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A8BABF"/>
      </a:accent1>
      <a:accent2>
        <a:srgbClr val="C16A38"/>
      </a:accent2>
      <a:accent3>
        <a:srgbClr val="7B441F"/>
      </a:accent3>
      <a:accent4>
        <a:srgbClr val="DAC68B"/>
      </a:accent4>
      <a:accent5>
        <a:srgbClr val="B6BAA5"/>
      </a:accent5>
      <a:accent6>
        <a:srgbClr val="716C34"/>
      </a:accent6>
      <a:hlink>
        <a:srgbClr val="467886"/>
      </a:hlink>
      <a:folHlink>
        <a:srgbClr val="96607D"/>
      </a:folHlink>
    </a:clrScheme>
    <a:fontScheme name="Custom 13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xis" id="{2A75EA04-0AE5-4074-9538-7DA6C138DAE9}" vid="{E39B6906-D52F-4B95-B43C-27F512CB479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Axis</Template>
  <TotalTime>637</TotalTime>
  <Words>1114</Words>
  <Application>Microsoft Office PowerPoint</Application>
  <PresentationFormat>Widescreen</PresentationFormat>
  <Paragraphs>159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Cambria Math</vt:lpstr>
      <vt:lpstr>Courier New</vt:lpstr>
      <vt:lpstr>Neue Haas Grotesk Text Pro</vt:lpstr>
      <vt:lpstr>Wingdings</vt:lpstr>
      <vt:lpstr>Axis</vt:lpstr>
      <vt:lpstr>House Price Analytics</vt:lpstr>
      <vt:lpstr>Dataset &amp; Data Preparation</vt:lpstr>
      <vt:lpstr>Project Objective</vt:lpstr>
      <vt:lpstr>Dashboard 1</vt:lpstr>
      <vt:lpstr>Dashboard 2</vt:lpstr>
      <vt:lpstr>Housing Price Storyboard</vt:lpstr>
      <vt:lpstr>Recommendations</vt:lpstr>
      <vt:lpstr>Data Split &amp; Evaluation Strategy</vt:lpstr>
      <vt:lpstr>Data Cleaning &amp; Preprocessing</vt:lpstr>
      <vt:lpstr>Model Training</vt:lpstr>
      <vt:lpstr>Hyperparameter Tuning</vt:lpstr>
      <vt:lpstr>Final Model Performance</vt:lpstr>
      <vt:lpstr>Tools Used &amp; Reflection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SOH KAI XUN</dc:creator>
  <cp:lastModifiedBy>SOH KAI XUN</cp:lastModifiedBy>
  <cp:revision>25</cp:revision>
  <dcterms:created xsi:type="dcterms:W3CDTF">2026-08-28T05:41:53Z</dcterms:created>
  <dcterms:modified xsi:type="dcterms:W3CDTF">2026-09-08T02:51:20Z</dcterms:modified>
</cp:coreProperties>
</file>